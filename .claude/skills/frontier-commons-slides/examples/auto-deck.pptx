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D145F"/>
            </a:solidFill>
          </c:spPr>
          <c:cat>
            <c:strRef>
              <c:f>Sheet1!$A$2:$A$6</c:f>
              <c:strCache>
                <c:ptCount val="5"/>
                <c:pt idx="0">
                  <c:v>Asia</c:v>
                </c:pt>
                <c:pt idx="1">
                  <c:v>Europe</c:v>
                </c:pt>
                <c:pt idx="2">
                  <c:v>Africa</c:v>
                </c:pt>
                <c:pt idx="3">
                  <c:v>Latin America</c:v>
                </c:pt>
                <c:pt idx="4">
                  <c:v>Middle East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34.0</c:v>
                </c:pt>
                <c:pt idx="1">
                  <c:v>22.0</c:v>
                </c:pt>
                <c:pt idx="2">
                  <c:v>18.0</c:v>
                </c:pt>
                <c:pt idx="3">
                  <c:v>15.0</c:v>
                </c:pt>
                <c:pt idx="4">
                  <c:v>11.0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>
                  <a:solidFill>
                    <a:srgbClr val="13141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ADB1B8"/>
            </a:solidFill>
          </a:ln>
        </c:spPr>
        <c:txPr>
          <a:bodyPr/>
          <a:lstStyle/>
          <a:p>
            <a:pPr>
              <a:defRPr>
                <a:solidFill>
                  <a:srgbClr val="13141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6D8DB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5F646D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131416"/>
          </a:solidFill>
          <a:latin typeface="DM Sans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2.png"/><Relationship Id="rId6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9144000" cy="23774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 i="0">
                <a:solidFill>
                  <a:srgbClr val="F3F4FA"/>
                </a:solidFill>
                <a:latin typeface="Inter"/>
              </a:rPr>
              <a:t>Frontier</a:t>
            </a:r>
          </a:p>
          <a:p>
            <a:pPr algn="l">
              <a:lnSpc>
                <a:spcPct val="100000"/>
              </a:lnSpc>
            </a:pPr>
            <a:r>
              <a:rPr sz="6600" b="1" i="0">
                <a:solidFill>
                  <a:srgbClr val="F3F4FA"/>
                </a:solidFill>
                <a:latin typeface="Inter"/>
              </a:rPr>
              <a:t>Commons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79476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 spc="-24">
                <a:solidFill>
                  <a:srgbClr val="F3F4FA"/>
                </a:solidFill>
                <a:latin typeface="Inter"/>
              </a:rPr>
              <a:t>MINISTRY PARTNERS GATHERING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897880"/>
            <a:ext cx="10728655" cy="12700"/>
          </a:xfrm>
          <a:prstGeom prst="rect">
            <a:avLst/>
          </a:prstGeom>
          <a:solidFill>
            <a:srgbClr val="F3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0807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3F4FA"/>
                </a:solidFill>
                <a:latin typeface="DM Sans"/>
              </a:rPr>
              <a:t>October 2026</a:t>
            </a:r>
          </a:p>
        </p:txBody>
      </p:sp>
      <p:pic>
        <p:nvPicPr>
          <p:cNvPr id="6" name="Picture 5" descr="wordmark-horizontal-m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8415" y="6108192"/>
            <a:ext cx="2606663" cy="3383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 spc="-36">
                <a:solidFill>
                  <a:srgbClr val="0D145F"/>
                </a:solidFill>
                <a:latin typeface="Inter"/>
              </a:rPr>
              <a:t>Today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577340"/>
            <a:ext cx="548640" cy="54864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131416"/>
                </a:solidFill>
                <a:latin typeface="Inter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577340"/>
            <a:ext cx="99056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 spc="-44">
                <a:solidFill>
                  <a:srgbClr val="131416"/>
                </a:solidFill>
                <a:latin typeface="Inter"/>
              </a:rPr>
              <a:t>Why international students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537460"/>
            <a:ext cx="548640" cy="54864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131416"/>
                </a:solidFill>
                <a:latin typeface="Inter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537460"/>
            <a:ext cx="99056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 spc="-44">
                <a:solidFill>
                  <a:srgbClr val="131416"/>
                </a:solidFill>
                <a:latin typeface="Inter"/>
              </a:rPr>
              <a:t>What we've learned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497580"/>
            <a:ext cx="548640" cy="54864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131416"/>
                </a:solidFill>
                <a:latin typeface="Inter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497580"/>
            <a:ext cx="99056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 spc="-44">
                <a:solidFill>
                  <a:srgbClr val="131416"/>
                </a:solidFill>
                <a:latin typeface="Inter"/>
              </a:rPr>
              <a:t>How we can work together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4457700"/>
            <a:ext cx="548640" cy="54864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131416"/>
                </a:solidFill>
                <a:latin typeface="Inter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4457700"/>
            <a:ext cx="99056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 spc="-44">
                <a:solidFill>
                  <a:srgbClr val="131416"/>
                </a:solidFill>
                <a:latin typeface="Inter"/>
              </a:rPr>
              <a:t>Next steps</a:t>
            </a:r>
          </a:p>
        </p:txBody>
      </p:sp>
      <p:pic>
        <p:nvPicPr>
          <p:cNvPr id="11" name="Picture 10" descr="logo-icon-deep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2   Frontier Commons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C9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90388"/>
            <a:ext cx="12191695" cy="15875"/>
          </a:xfrm>
          <a:prstGeom prst="rect">
            <a:avLst/>
          </a:prstGeom>
          <a:solidFill>
            <a:srgbClr val="F3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96438"/>
            <a:ext cx="10728655" cy="2743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95000"/>
              </a:lnSpc>
            </a:pPr>
            <a:r>
              <a:rPr sz="11000" b="1" i="0" spc="-220">
                <a:solidFill>
                  <a:srgbClr val="F3F4FA"/>
                </a:solidFill>
                <a:latin typeface="Inter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3F4FA"/>
                </a:solidFill>
                <a:latin typeface="DM Sans"/>
              </a:rPr>
              <a:t>01</a:t>
            </a:r>
          </a:p>
        </p:txBody>
      </p:sp>
      <p:pic>
        <p:nvPicPr>
          <p:cNvPr id="5" name="Picture 4" descr="logo-icon-deep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08076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 spc="-36">
                <a:solidFill>
                  <a:srgbClr val="0D145F"/>
                </a:solidFill>
                <a:latin typeface="Inter"/>
              </a:rP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43100"/>
            <a:ext cx="3271418" cy="12801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7200" b="1" i="0" spc="-216">
                <a:solidFill>
                  <a:srgbClr val="0D145F"/>
                </a:solidFill>
                <a:latin typeface="Inter"/>
              </a:rPr>
              <a:t>7M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406140"/>
            <a:ext cx="822960" cy="50800"/>
          </a:xfrm>
          <a:prstGeom prst="rect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34740"/>
            <a:ext cx="327141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 spc="-20">
                <a:solidFill>
                  <a:srgbClr val="131416"/>
                </a:solidFill>
                <a:latin typeface="Inter"/>
              </a:rPr>
              <a:t>international students worldwide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60138" y="1943100"/>
            <a:ext cx="3271418" cy="12801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7200" b="1" i="0" spc="-216">
                <a:solidFill>
                  <a:srgbClr val="0D145F"/>
                </a:solidFill>
                <a:latin typeface="Inter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4460138" y="3406140"/>
            <a:ext cx="822960" cy="50800"/>
          </a:xfrm>
          <a:prstGeom prst="rect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60138" y="3634740"/>
            <a:ext cx="327141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 spc="-20">
                <a:solidFill>
                  <a:srgbClr val="131416"/>
                </a:solidFill>
                <a:latin typeface="Inter"/>
              </a:rPr>
              <a:t>stages in every student's 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8756" y="1943100"/>
            <a:ext cx="3271418" cy="12801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7200" b="1" i="0" spc="-216">
                <a:solidFill>
                  <a:srgbClr val="0D145F"/>
                </a:solidFill>
                <a:latin typeface="Inter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8756" y="3406140"/>
            <a:ext cx="822960" cy="50800"/>
          </a:xfrm>
          <a:prstGeom prst="rect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8756" y="3634740"/>
            <a:ext cx="327141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 spc="-20">
                <a:solidFill>
                  <a:srgbClr val="131416"/>
                </a:solidFill>
                <a:latin typeface="Inter"/>
              </a:rPr>
              <a:t>core principles guide our work</a:t>
            </a:r>
          </a:p>
        </p:txBody>
      </p:sp>
      <p:pic>
        <p:nvPicPr>
          <p:cNvPr id="12" name="Picture 11" descr="logo-icon-deep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4   Frontier Commons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 spc="-36">
                <a:solidFill>
                  <a:srgbClr val="0D145F"/>
                </a:solidFill>
                <a:latin typeface="Inter"/>
              </a:rPr>
              <a:t>Students by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577340.0"/>
          <a:ext cx="10728655" cy="4183380.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833872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F646D"/>
                </a:solidFill>
                <a:latin typeface="DM Sans"/>
              </a:rPr>
              <a:t>Source: Illustrative numbers — replace with real data</a:t>
            </a:r>
          </a:p>
        </p:txBody>
      </p:sp>
      <p:pic>
        <p:nvPicPr>
          <p:cNvPr id="5" name="Picture 4" descr="logo-icon-deep-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5   Frontier Commons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 spc="-36">
                <a:solidFill>
                  <a:srgbClr val="0D145F"/>
                </a:solidFill>
                <a:latin typeface="Inter"/>
              </a:rPr>
              <a:t>What students tell us they need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2068830"/>
            <a:ext cx="640080" cy="640080"/>
          </a:xfrm>
          <a:prstGeom prst="ellipse">
            <a:avLst/>
          </a:prstGeom>
          <a:solidFill>
            <a:srgbClr val="DC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ff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39" y="2222449"/>
            <a:ext cx="332842" cy="3328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00200" y="2087118"/>
            <a:ext cx="24027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 spc="-18">
                <a:solidFill>
                  <a:srgbClr val="0D145F"/>
                </a:solidFill>
                <a:latin typeface="DM Sans"/>
              </a:rPr>
              <a:t>Friendship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498598"/>
            <a:ext cx="2402738" cy="1124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Someone to share a meal with in the first month.</a:t>
            </a:r>
          </a:p>
        </p:txBody>
      </p:sp>
      <p:sp>
        <p:nvSpPr>
          <p:cNvPr id="7" name="Oval 6"/>
          <p:cNvSpPr/>
          <p:nvPr/>
        </p:nvSpPr>
        <p:spPr>
          <a:xfrm>
            <a:off x="4460138" y="2068830"/>
            <a:ext cx="640080" cy="640080"/>
          </a:xfrm>
          <a:prstGeom prst="ellipse">
            <a:avLst/>
          </a:prstGeom>
          <a:solidFill>
            <a:srgbClr val="DC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m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757" y="2222449"/>
            <a:ext cx="332842" cy="3328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28818" y="2087118"/>
            <a:ext cx="24027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 spc="-18">
                <a:solidFill>
                  <a:srgbClr val="0D145F"/>
                </a:solidFill>
                <a:latin typeface="DM Sans"/>
              </a:rPr>
              <a:t>Belonging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28818" y="2498598"/>
            <a:ext cx="2402738" cy="1124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A community that welcomes them as they are.</a:t>
            </a:r>
          </a:p>
        </p:txBody>
      </p:sp>
      <p:sp>
        <p:nvSpPr>
          <p:cNvPr id="11" name="Oval 10"/>
          <p:cNvSpPr/>
          <p:nvPr/>
        </p:nvSpPr>
        <p:spPr>
          <a:xfrm>
            <a:off x="8188756" y="2068830"/>
            <a:ext cx="640080" cy="640080"/>
          </a:xfrm>
          <a:prstGeom prst="ellipse">
            <a:avLst/>
          </a:prstGeom>
          <a:solidFill>
            <a:srgbClr val="DC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omp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2375" y="2222449"/>
            <a:ext cx="332842" cy="33284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7436" y="2087118"/>
            <a:ext cx="24027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 spc="-18">
                <a:solidFill>
                  <a:srgbClr val="0D145F"/>
                </a:solidFill>
                <a:latin typeface="DM Sans"/>
              </a:rPr>
              <a:t>Guidance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7436" y="2498598"/>
            <a:ext cx="2402738" cy="1124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Help with language, culture and daily life.</a:t>
            </a:r>
          </a:p>
        </p:txBody>
      </p:sp>
      <p:sp>
        <p:nvSpPr>
          <p:cNvPr id="15" name="Oval 14"/>
          <p:cNvSpPr/>
          <p:nvPr/>
        </p:nvSpPr>
        <p:spPr>
          <a:xfrm>
            <a:off x="2595829" y="3943350"/>
            <a:ext cx="640080" cy="640080"/>
          </a:xfrm>
          <a:prstGeom prst="ellipse">
            <a:avLst/>
          </a:prstGeom>
          <a:solidFill>
            <a:srgbClr val="DC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ro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9448" y="4096969"/>
            <a:ext cx="332842" cy="33284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464509" y="3961638"/>
            <a:ext cx="24027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 spc="-18">
                <a:solidFill>
                  <a:srgbClr val="0D145F"/>
                </a:solidFill>
                <a:latin typeface="DM Sans"/>
              </a:rPr>
              <a:t>Faith conversations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64509" y="4373118"/>
            <a:ext cx="2402738" cy="1124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Honest space to ask questions about the gospel.</a:t>
            </a:r>
          </a:p>
        </p:txBody>
      </p:sp>
      <p:sp>
        <p:nvSpPr>
          <p:cNvPr id="19" name="Oval 18"/>
          <p:cNvSpPr/>
          <p:nvPr/>
        </p:nvSpPr>
        <p:spPr>
          <a:xfrm>
            <a:off x="6324447" y="3943350"/>
            <a:ext cx="640080" cy="640080"/>
          </a:xfrm>
          <a:prstGeom prst="ellipse">
            <a:avLst/>
          </a:prstGeom>
          <a:solidFill>
            <a:srgbClr val="DC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briefc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8066" y="4096969"/>
            <a:ext cx="332842" cy="33284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93127" y="3961638"/>
            <a:ext cx="24027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 spc="-18">
                <a:solidFill>
                  <a:srgbClr val="0D145F"/>
                </a:solidFill>
                <a:latin typeface="DM Sans"/>
              </a:rPr>
              <a:t>Career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93127" y="4373118"/>
            <a:ext cx="2402738" cy="1124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Mentors for internships and work after graduation.</a:t>
            </a:r>
          </a:p>
        </p:txBody>
      </p:sp>
      <p:pic>
        <p:nvPicPr>
          <p:cNvPr id="23" name="Picture 22" descr="logo-icon-deep-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6   Frontier Commons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F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 spc="-36">
                <a:solidFill>
                  <a:srgbClr val="0D145F"/>
                </a:solidFill>
                <a:latin typeface="Inter"/>
              </a:rPr>
              <a:t>The student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4385" y="2609850"/>
            <a:ext cx="8582924" cy="38100"/>
          </a:xfrm>
          <a:prstGeom prst="rect">
            <a:avLst/>
          </a:prstGeom>
          <a:solidFill>
            <a:srgbClr val="0D1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92905" y="2217420"/>
            <a:ext cx="822960" cy="82296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ugg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415" y="2414930"/>
            <a:ext cx="427940" cy="4279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5819" y="3314700"/>
            <a:ext cx="19171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D145F"/>
                </a:solidFill>
                <a:latin typeface="DM Sans"/>
              </a:rPr>
              <a:t>1. Pre-Arrival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19" y="3954780"/>
            <a:ext cx="1917131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Anticipation, fear, hope</a:t>
            </a:r>
          </a:p>
        </p:txBody>
      </p:sp>
      <p:sp>
        <p:nvSpPr>
          <p:cNvPr id="8" name="Oval 7"/>
          <p:cNvSpPr/>
          <p:nvPr/>
        </p:nvSpPr>
        <p:spPr>
          <a:xfrm>
            <a:off x="3538636" y="2217420"/>
            <a:ext cx="822960" cy="82296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ne-la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6146" y="2414930"/>
            <a:ext cx="427940" cy="4279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991550" y="3314700"/>
            <a:ext cx="19171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D145F"/>
                </a:solidFill>
                <a:latin typeface="DM Sans"/>
              </a:rPr>
              <a:t>2. Arrival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1550" y="3954780"/>
            <a:ext cx="1917131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Overwhelmed, lonely, culture shock</a:t>
            </a:r>
          </a:p>
        </p:txBody>
      </p:sp>
      <p:sp>
        <p:nvSpPr>
          <p:cNvPr id="12" name="Oval 11"/>
          <p:cNvSpPr/>
          <p:nvPr/>
        </p:nvSpPr>
        <p:spPr>
          <a:xfrm>
            <a:off x="5684367" y="2217420"/>
            <a:ext cx="822960" cy="82296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uzz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1877" y="2414930"/>
            <a:ext cx="427940" cy="4279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37281" y="3314700"/>
            <a:ext cx="19171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D145F"/>
                </a:solidFill>
                <a:latin typeface="DM Sans"/>
              </a:rPr>
              <a:t>3.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7281" y="3954780"/>
            <a:ext cx="1917131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Curious, conflicted, settled</a:t>
            </a:r>
          </a:p>
        </p:txBody>
      </p:sp>
      <p:sp>
        <p:nvSpPr>
          <p:cNvPr id="16" name="Oval 15"/>
          <p:cNvSpPr/>
          <p:nvPr/>
        </p:nvSpPr>
        <p:spPr>
          <a:xfrm>
            <a:off x="7830098" y="2217420"/>
            <a:ext cx="822960" cy="82296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la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7608" y="2414930"/>
            <a:ext cx="427940" cy="4279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83012" y="3314700"/>
            <a:ext cx="19171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D145F"/>
                </a:solidFill>
                <a:latin typeface="DM Sans"/>
              </a:rPr>
              <a:t>4. Leadership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3012" y="3954780"/>
            <a:ext cx="1917131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Empowered, confident, purposeful</a:t>
            </a:r>
          </a:p>
        </p:txBody>
      </p:sp>
      <p:sp>
        <p:nvSpPr>
          <p:cNvPr id="20" name="Oval 19"/>
          <p:cNvSpPr/>
          <p:nvPr/>
        </p:nvSpPr>
        <p:spPr>
          <a:xfrm>
            <a:off x="9975829" y="2217420"/>
            <a:ext cx="822960" cy="82296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lane-takeo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3339" y="2414930"/>
            <a:ext cx="427940" cy="4279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428743" y="3314700"/>
            <a:ext cx="19171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D145F"/>
                </a:solidFill>
                <a:latin typeface="DM Sans"/>
              </a:rPr>
              <a:t>5. Re-Entry Home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28743" y="3954780"/>
            <a:ext cx="1917131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Reverse culture shock, determination</a:t>
            </a:r>
          </a:p>
        </p:txBody>
      </p:sp>
      <p:pic>
        <p:nvPicPr>
          <p:cNvPr id="24" name="Picture 23" descr="logo-icon-deep-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7   Frontier Commons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 spc="-36">
                <a:solidFill>
                  <a:srgbClr val="0D145F"/>
                </a:solidFill>
                <a:latin typeface="Inter"/>
              </a:rPr>
              <a:t>Core Principles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77340"/>
            <a:ext cx="2442133" cy="4366260"/>
          </a:xfrm>
          <a:prstGeom prst="roundRect">
            <a:avLst>
              <a:gd name="adj" fmla="val 10000"/>
            </a:avLst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88820"/>
            <a:ext cx="189349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31416"/>
                </a:solidFill>
                <a:latin typeface="Inter"/>
              </a:rPr>
              <a:t>Accessible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3906" y="2491740"/>
            <a:ext cx="1737360" cy="31750"/>
          </a:xfrm>
          <a:prstGeom prst="rect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74620"/>
            <a:ext cx="189349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131416"/>
                </a:solidFill>
                <a:latin typeface="Inter"/>
              </a:rPr>
              <a:t>over academic</a:t>
            </a:r>
          </a:p>
        </p:txBody>
      </p:sp>
      <p:pic>
        <p:nvPicPr>
          <p:cNvPr id="7" name="Picture 6" descr="door-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686" y="3497580"/>
            <a:ext cx="685800" cy="685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5840" y="4457700"/>
            <a:ext cx="1893493" cy="1257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 i="0">
                <a:solidFill>
                  <a:srgbClr val="131416"/>
                </a:solidFill>
                <a:latin typeface="DM Sans"/>
              </a:rPr>
              <a:t>No previous experience, training, or interest required.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693" y="1577340"/>
            <a:ext cx="2442133" cy="4366260"/>
          </a:xfrm>
          <a:prstGeom prst="roundRect">
            <a:avLst>
              <a:gd name="adj" fmla="val 10000"/>
            </a:avLst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68013" y="1988820"/>
            <a:ext cx="189349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31416"/>
                </a:solidFill>
                <a:latin typeface="Inter"/>
              </a:rPr>
              <a:t>Collaborative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6079" y="2491740"/>
            <a:ext cx="1737360" cy="31750"/>
          </a:xfrm>
          <a:prstGeom prst="rect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68013" y="2674620"/>
            <a:ext cx="189349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131416"/>
                </a:solidFill>
                <a:latin typeface="Inter"/>
              </a:rPr>
              <a:t>over competitive</a:t>
            </a:r>
          </a:p>
        </p:txBody>
      </p:sp>
      <p:pic>
        <p:nvPicPr>
          <p:cNvPr id="13" name="Picture 12" descr="handsh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859" y="3497580"/>
            <a:ext cx="685800" cy="685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768013" y="4457700"/>
            <a:ext cx="1893493" cy="1257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 i="0">
                <a:solidFill>
                  <a:srgbClr val="131416"/>
                </a:solidFill>
                <a:latin typeface="DM Sans"/>
              </a:rPr>
              <a:t>Building bridges and shared spaces between ministries.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5867" y="1577340"/>
            <a:ext cx="2442133" cy="4366260"/>
          </a:xfrm>
          <a:prstGeom prst="roundRect">
            <a:avLst>
              <a:gd name="adj" fmla="val 10000"/>
            </a:avLst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0187" y="1988820"/>
            <a:ext cx="189349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31416"/>
                </a:solidFill>
                <a:latin typeface="Inter"/>
              </a:rPr>
              <a:t>Innovative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08253" y="2491740"/>
            <a:ext cx="1737360" cy="31750"/>
          </a:xfrm>
          <a:prstGeom prst="rect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0187" y="2674620"/>
            <a:ext cx="189349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131416"/>
                </a:solidFill>
                <a:latin typeface="Inter"/>
              </a:rPr>
              <a:t>over traditional</a:t>
            </a:r>
          </a:p>
        </p:txBody>
      </p:sp>
      <p:pic>
        <p:nvPicPr>
          <p:cNvPr id="19" name="Picture 18" descr="light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4033" y="3497580"/>
            <a:ext cx="685800" cy="685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30187" y="4457700"/>
            <a:ext cx="1893493" cy="1257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 i="0">
                <a:solidFill>
                  <a:srgbClr val="131416"/>
                </a:solidFill>
                <a:latin typeface="DM Sans"/>
              </a:rPr>
              <a:t>Fresh approaches through the innovation pipeline.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18041" y="1577340"/>
            <a:ext cx="2442133" cy="4366260"/>
          </a:xfrm>
          <a:prstGeom prst="roundRect">
            <a:avLst>
              <a:gd name="adj" fmla="val 10000"/>
            </a:avLst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2361" y="1988820"/>
            <a:ext cx="189349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31416"/>
                </a:solidFill>
                <a:latin typeface="Inter"/>
              </a:rPr>
              <a:t>Global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70427" y="2491740"/>
            <a:ext cx="1737360" cy="31750"/>
          </a:xfrm>
          <a:prstGeom prst="rect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2361" y="2674620"/>
            <a:ext cx="189349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131416"/>
                </a:solidFill>
                <a:latin typeface="Inter"/>
              </a:rPr>
              <a:t>over Western-centric</a:t>
            </a:r>
          </a:p>
        </p:txBody>
      </p:sp>
      <p:pic>
        <p:nvPicPr>
          <p:cNvPr id="25" name="Picture 24" descr="glo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6207" y="3497580"/>
            <a:ext cx="685800" cy="685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292361" y="4457700"/>
            <a:ext cx="1893493" cy="1257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 i="0">
                <a:solidFill>
                  <a:srgbClr val="131416"/>
                </a:solidFill>
                <a:latin typeface="DM Sans"/>
              </a:rPr>
              <a:t>Grounded in the realities of 7M students worldwide.</a:t>
            </a:r>
          </a:p>
        </p:txBody>
      </p:sp>
      <p:pic>
        <p:nvPicPr>
          <p:cNvPr id="27" name="Picture 26" descr="logo-icon-deep-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8   Frontier Commons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 spc="-36">
                <a:solidFill>
                  <a:srgbClr val="0D145F"/>
                </a:solidFill>
                <a:latin typeface="Inter"/>
              </a:rPr>
              <a:t>What partners can expect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48740"/>
            <a:ext cx="822960" cy="38100"/>
          </a:xfrm>
          <a:prstGeom prst="rect">
            <a:avLst/>
          </a:prstGeom>
          <a:solidFill>
            <a:srgbClr val="0D1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77340"/>
            <a:ext cx="5090007" cy="43662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1460" indent="-25146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1800" b="0" i="0" spc="-18">
                <a:solidFill>
                  <a:srgbClr val="131416"/>
                </a:solidFill>
                <a:latin typeface="DM Sans"/>
              </a:rPr>
              <a:t>Shared research on the needs of international students</a:t>
            </a:r>
          </a:p>
          <a:p>
            <a:pPr marL="251460" indent="-25146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1800" b="0" i="0" spc="-18">
                <a:solidFill>
                  <a:srgbClr val="131416"/>
                </a:solidFill>
                <a:latin typeface="DM Sans"/>
              </a:rPr>
              <a:t>Introductions to ministries already serving your campus</a:t>
            </a:r>
          </a:p>
          <a:p>
            <a:pPr marL="251460" indent="-25146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1800" b="0" i="0" spc="-18">
                <a:solidFill>
                  <a:srgbClr val="131416"/>
                </a:solidFill>
                <a:latin typeface="DM Sans"/>
              </a:rPr>
              <a:t>Coordinated calendars so events don't compete</a:t>
            </a:r>
          </a:p>
          <a:p>
            <a:pPr marL="251460" indent="-25146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1800" b="0" i="0" spc="-18">
                <a:solidFill>
                  <a:srgbClr val="131416"/>
                </a:solidFill>
                <a:latin typeface="DM Sans"/>
              </a:rPr>
              <a:t>Training that doesn't assume previous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70167" y="1577340"/>
            <a:ext cx="5090007" cy="43662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1460" indent="-25146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1800" b="0" i="0" spc="-18">
                <a:solidFill>
                  <a:srgbClr val="131416"/>
                </a:solidFill>
                <a:latin typeface="DM Sans"/>
              </a:rPr>
              <a:t>A place to test new ideas with other ministries</a:t>
            </a:r>
          </a:p>
          <a:p>
            <a:pPr marL="251460" indent="-25146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1800" b="0" i="0" spc="-18">
                <a:solidFill>
                  <a:srgbClr val="131416"/>
                </a:solidFill>
                <a:latin typeface="DM Sans"/>
              </a:rPr>
              <a:t>Regular gatherings to learn from each other</a:t>
            </a:r>
          </a:p>
          <a:p>
            <a:pPr marL="251460" indent="-25146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1800" b="0" i="0" spc="-18">
                <a:solidFill>
                  <a:srgbClr val="131416"/>
                </a:solidFill>
                <a:latin typeface="DM Sans"/>
              </a:rPr>
              <a:t>Simple tools to follow up with students</a:t>
            </a:r>
          </a:p>
          <a:p>
            <a:pPr marL="251460" indent="-25146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1800" b="0" i="0" spc="-18">
                <a:solidFill>
                  <a:srgbClr val="131416"/>
                </a:solidFill>
                <a:latin typeface="DM Sans"/>
              </a:rPr>
              <a:t>Support for students returning home</a:t>
            </a:r>
          </a:p>
        </p:txBody>
      </p:sp>
      <p:pic>
        <p:nvPicPr>
          <p:cNvPr id="6" name="Picture 5" descr="logo-icon-deep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9   Frontier Commons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 spc="-36">
                <a:solidFill>
                  <a:srgbClr val="0D145F"/>
                </a:solidFill>
                <a:latin typeface="Inter"/>
              </a:rPr>
              <a:t>How we 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77340"/>
            <a:ext cx="5090007" cy="43662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70167" y="1577340"/>
            <a:ext cx="5090007" cy="43662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43100"/>
            <a:ext cx="43584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spc="-22">
                <a:solidFill>
                  <a:srgbClr val="0D145F"/>
                </a:solidFill>
                <a:latin typeface="DM Sans"/>
              </a:rPr>
              <a:t>What we add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91740"/>
            <a:ext cx="4358487" cy="3634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490" indent="-23749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1700" b="0" i="0" spc="-17">
                <a:solidFill>
                  <a:srgbClr val="131416"/>
                </a:solidFill>
                <a:latin typeface="DM Sans"/>
              </a:rPr>
              <a:t>Shared data</a:t>
            </a:r>
          </a:p>
          <a:p>
            <a:pPr marL="237490" indent="-23749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1700" b="0" i="0" spc="-17">
                <a:solidFill>
                  <a:srgbClr val="131416"/>
                </a:solidFill>
                <a:latin typeface="DM Sans"/>
              </a:rPr>
              <a:t>Coordination</a:t>
            </a:r>
          </a:p>
          <a:p>
            <a:pPr marL="237490" indent="-23749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1700" b="0" i="0" spc="-17">
                <a:solidFill>
                  <a:srgbClr val="131416"/>
                </a:solidFill>
                <a:latin typeface="DM Sans"/>
              </a:rPr>
              <a:t>Innovation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5927" y="1943100"/>
            <a:ext cx="43584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spc="-22">
                <a:solidFill>
                  <a:srgbClr val="0D145F"/>
                </a:solidFill>
                <a:latin typeface="DM Sans"/>
              </a:rPr>
              <a:t>What stays yours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5927" y="2491740"/>
            <a:ext cx="4358487" cy="3634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490" indent="-23749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1700" b="0" i="0" spc="-17">
                <a:solidFill>
                  <a:srgbClr val="131416"/>
                </a:solidFill>
                <a:latin typeface="DM Sans"/>
              </a:rPr>
              <a:t>Your ministry's identity</a:t>
            </a:r>
          </a:p>
          <a:p>
            <a:pPr marL="237490" indent="-23749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1700" b="0" i="0" spc="-17">
                <a:solidFill>
                  <a:srgbClr val="131416"/>
                </a:solidFill>
                <a:latin typeface="DM Sans"/>
              </a:rPr>
              <a:t>Your relationships</a:t>
            </a:r>
          </a:p>
          <a:p>
            <a:pPr marL="237490" indent="-23749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1700" b="0" i="0" spc="-17">
                <a:solidFill>
                  <a:srgbClr val="131416"/>
                </a:solidFill>
                <a:latin typeface="DM Sans"/>
              </a:rPr>
              <a:t>Your programs</a:t>
            </a:r>
          </a:p>
        </p:txBody>
      </p:sp>
      <p:pic>
        <p:nvPicPr>
          <p:cNvPr id="9" name="Picture 8" descr="logo-icon-deep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10   Frontier Commons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F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 spc="-36">
                <a:solidFill>
                  <a:srgbClr val="0D145F"/>
                </a:solidFill>
                <a:latin typeface="Inter"/>
              </a:rPr>
              <a:t>Next twelve months</a:t>
            </a:r>
          </a:p>
        </p:txBody>
      </p:sp>
      <p:sp>
        <p:nvSpPr>
          <p:cNvPr id="3" name="Rectangle 2"/>
          <p:cNvSpPr/>
          <p:nvPr/>
        </p:nvSpPr>
        <p:spPr>
          <a:xfrm>
            <a:off x="2072601" y="2929890"/>
            <a:ext cx="8046491" cy="38100"/>
          </a:xfrm>
          <a:prstGeom prst="rect">
            <a:avLst/>
          </a:prstGeom>
          <a:solidFill>
            <a:srgbClr val="0D1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61121" y="2537460"/>
            <a:ext cx="822960" cy="82296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631" y="2734970"/>
            <a:ext cx="427940" cy="4279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5819" y="2080260"/>
            <a:ext cx="245356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spc="72">
                <a:solidFill>
                  <a:srgbClr val="1F2FE0"/>
                </a:solidFill>
                <a:latin typeface="DM Sans"/>
              </a:rPr>
              <a:t>NOV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19" y="3634740"/>
            <a:ext cx="245356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D145F"/>
                </a:solidFill>
                <a:latin typeface="DM Sans"/>
              </a:rPr>
              <a:t>1. Partner survey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19" y="4274820"/>
            <a:ext cx="2453563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Listen before we build.</a:t>
            </a:r>
          </a:p>
        </p:txBody>
      </p:sp>
      <p:sp>
        <p:nvSpPr>
          <p:cNvPr id="9" name="Oval 8"/>
          <p:cNvSpPr/>
          <p:nvPr/>
        </p:nvSpPr>
        <p:spPr>
          <a:xfrm>
            <a:off x="4343285" y="2537460"/>
            <a:ext cx="822960" cy="82296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0795" y="2734970"/>
            <a:ext cx="427940" cy="4279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527983" y="2080260"/>
            <a:ext cx="245356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spc="72">
                <a:solidFill>
                  <a:srgbClr val="1F2FE0"/>
                </a:solidFill>
                <a:latin typeface="DM Sans"/>
              </a:rPr>
              <a:t>JAN 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7983" y="3634740"/>
            <a:ext cx="245356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D145F"/>
                </a:solidFill>
                <a:latin typeface="DM Sans"/>
              </a:rPr>
              <a:t>2. Shared calendar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983" y="4274820"/>
            <a:ext cx="2453563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One view of campus events.</a:t>
            </a:r>
          </a:p>
        </p:txBody>
      </p:sp>
      <p:sp>
        <p:nvSpPr>
          <p:cNvPr id="14" name="Oval 13"/>
          <p:cNvSpPr/>
          <p:nvPr/>
        </p:nvSpPr>
        <p:spPr>
          <a:xfrm>
            <a:off x="7025449" y="2537460"/>
            <a:ext cx="822960" cy="82296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users-rou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2959" y="2734970"/>
            <a:ext cx="427940" cy="4279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10147" y="2080260"/>
            <a:ext cx="245356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spc="72">
                <a:solidFill>
                  <a:srgbClr val="1F2FE0"/>
                </a:solidFill>
                <a:latin typeface="DM Sans"/>
              </a:rPr>
              <a:t>MAR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0147" y="3634740"/>
            <a:ext cx="245356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D145F"/>
                </a:solidFill>
                <a:latin typeface="DM Sans"/>
              </a:rPr>
              <a:t>3. Summit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0147" y="4274820"/>
            <a:ext cx="2453563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Gather in person.</a:t>
            </a:r>
          </a:p>
        </p:txBody>
      </p:sp>
      <p:sp>
        <p:nvSpPr>
          <p:cNvPr id="19" name="Oval 18"/>
          <p:cNvSpPr/>
          <p:nvPr/>
        </p:nvSpPr>
        <p:spPr>
          <a:xfrm>
            <a:off x="9707613" y="2537460"/>
            <a:ext cx="822960" cy="82296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lane-takeo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5123" y="2734970"/>
            <a:ext cx="427940" cy="4279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892311" y="2080260"/>
            <a:ext cx="245356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spc="72">
                <a:solidFill>
                  <a:srgbClr val="1F2FE0"/>
                </a:solidFill>
                <a:latin typeface="DM Sans"/>
              </a:rPr>
              <a:t>JUN 2027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2311" y="3634740"/>
            <a:ext cx="245356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D145F"/>
                </a:solidFill>
                <a:latin typeface="DM Sans"/>
              </a:rPr>
              <a:t>4. Re-entry toolkit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2311" y="4274820"/>
            <a:ext cx="2453563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Support students going home.</a:t>
            </a:r>
          </a:p>
        </p:txBody>
      </p:sp>
      <p:pic>
        <p:nvPicPr>
          <p:cNvPr id="24" name="Picture 23" descr="logo-icon-deep-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11   Frontier Commons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g_83930027656119443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40080"/>
            <a:ext cx="5120640" cy="53949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92240" y="1188720"/>
            <a:ext cx="838200" cy="329184"/>
          </a:xfrm>
          <a:prstGeom prst="roundRect">
            <a:avLst>
              <a:gd name="adj" fmla="val 50000"/>
            </a:avLst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200" b="1" i="0">
                <a:solidFill>
                  <a:srgbClr val="131416"/>
                </a:solidFill>
                <a:latin typeface="DM Sans"/>
              </a:rPr>
              <a:t>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1737360"/>
            <a:ext cx="49679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 spc="-34">
                <a:solidFill>
                  <a:srgbClr val="0D145F"/>
                </a:solidFill>
                <a:latin typeface="Inter"/>
              </a:rPr>
              <a:t>Every friendship starts with a welcome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3007360"/>
            <a:ext cx="496793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 spc="-17">
                <a:solidFill>
                  <a:srgbClr val="131416"/>
                </a:solidFill>
                <a:latin typeface="DM Sans"/>
              </a:rPr>
              <a:t>Use this space for a short story. Replace the placeholder name with a real, consented testimony.</a:t>
            </a:r>
          </a:p>
        </p:txBody>
      </p:sp>
      <p:pic>
        <p:nvPicPr>
          <p:cNvPr id="6" name="Picture 5" descr="logo-icon-deep-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12   Frontier Commons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05840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 spc="-96">
                <a:solidFill>
                  <a:srgbClr val="F3F4FA"/>
                </a:solidFill>
                <a:latin typeface="Inter"/>
              </a:rPr>
              <a:t>Empowering the next generation to share the gospel </a:t>
            </a:r>
            <a:r>
              <a:rPr sz="4800" b="1" i="0" spc="-96">
                <a:solidFill>
                  <a:srgbClr val="BCB4EE"/>
                </a:solidFill>
                <a:latin typeface="Inter"/>
              </a:rPr>
              <a:t>confidently</a:t>
            </a:r>
            <a:r>
              <a:rPr sz="4800" b="1" i="0" spc="-96">
                <a:solidFill>
                  <a:srgbClr val="F3F4FA"/>
                </a:solidFill>
                <a:latin typeface="Inter"/>
              </a:rPr>
              <a:t>.</a:t>
            </a:r>
          </a:p>
        </p:txBody>
      </p:sp>
      <p:pic>
        <p:nvPicPr>
          <p:cNvPr id="3" name="Picture 2" descr="logo-icon-m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3F4FA"/>
                </a:solidFill>
                <a:latin typeface="DM Sans"/>
              </a:rPr>
              <a:t>13   Frontier Commons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ordmark-stacked-m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227" y="1097280"/>
            <a:ext cx="2285241" cy="1737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337560"/>
            <a:ext cx="107286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 i="0">
                <a:solidFill>
                  <a:srgbClr val="F3F4FA"/>
                </a:solidFill>
                <a:latin typeface="Inter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 spc="-44">
                <a:solidFill>
                  <a:srgbClr val="BCB4EE"/>
                </a:solidFill>
                <a:latin typeface="Inter"/>
              </a:rPr>
              <a:t>Let's build this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21208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600" b="0" i="0">
                <a:solidFill>
                  <a:srgbClr val="F3F4FA"/>
                </a:solidFill>
                <a:latin typeface="DM Sans"/>
              </a:rPr>
              <a:t>[your.email@example.org]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Frontier Commons — Auto Layout Demo</dc:title>
  <dc:subject/>
  <dc:creator>Frontier Commons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