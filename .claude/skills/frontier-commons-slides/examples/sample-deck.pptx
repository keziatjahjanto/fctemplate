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everyone and thank them for coming.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9144000" cy="23774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F3F4FA"/>
                </a:solidFill>
                <a:latin typeface="Inter"/>
              </a:rPr>
              <a:t>Frontier</a:t>
            </a:r>
          </a:p>
          <a:p>
            <a:pPr algn="l">
              <a:lnSpc>
                <a:spcPct val="100000"/>
              </a:lnSpc>
            </a:pPr>
            <a:r>
              <a:rPr sz="6600" b="1" i="0">
                <a:solidFill>
                  <a:srgbClr val="F3F4FA"/>
                </a:solidFill>
                <a:latin typeface="Inter"/>
              </a:rPr>
              <a:t>Commons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947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 spc="-24">
                <a:solidFill>
                  <a:srgbClr val="F3F4FA"/>
                </a:solidFill>
                <a:latin typeface="Inter"/>
              </a:rPr>
              <a:t>PARTNER BRIEFING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897880"/>
            <a:ext cx="10728655" cy="12700"/>
          </a:xfrm>
          <a:prstGeom prst="rect">
            <a:avLst/>
          </a:prstGeom>
          <a:solidFill>
            <a:srgbClr val="F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080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3F4FA"/>
                </a:solidFill>
                <a:latin typeface="DM Sans"/>
              </a:rPr>
              <a:t>September 2026</a:t>
            </a:r>
          </a:p>
        </p:txBody>
      </p:sp>
      <p:pic>
        <p:nvPicPr>
          <p:cNvPr id="6" name="Picture 5" descr="wordmark-horizontal-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8415" y="6108192"/>
            <a:ext cx="2606663" cy="3383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Today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577340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577340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Who we are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537460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537460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Why international students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3497580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497580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How we work together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457700"/>
            <a:ext cx="548640" cy="54864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131416"/>
                </a:solidFill>
                <a:latin typeface="Inter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4457700"/>
            <a:ext cx="990569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 spc="-44">
                <a:solidFill>
                  <a:srgbClr val="131416"/>
                </a:solidFill>
                <a:latin typeface="Inter"/>
              </a:rPr>
              <a:t>Next steps</a:t>
            </a:r>
          </a:p>
        </p:txBody>
      </p:sp>
      <p:pic>
        <p:nvPicPr>
          <p:cNvPr id="11" name="Picture 10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2   Frontier Commons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9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0388"/>
            <a:ext cx="12191695" cy="15875"/>
          </a:xfrm>
          <a:prstGeom prst="rect">
            <a:avLst/>
          </a:prstGeom>
          <a:solidFill>
            <a:srgbClr val="F3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96438"/>
            <a:ext cx="10728655" cy="2743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>
              <a:lnSpc>
                <a:spcPct val="95000"/>
              </a:lnSpc>
            </a:pPr>
            <a:r>
              <a:rPr sz="11000" b="1" i="0" spc="-220">
                <a:solidFill>
                  <a:srgbClr val="F3F4FA"/>
                </a:solidFill>
                <a:latin typeface="Inter"/>
              </a:rPr>
              <a:t>Who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3F4FA"/>
                </a:solidFill>
                <a:latin typeface="DM Sans"/>
              </a:rPr>
              <a:t>01</a:t>
            </a:r>
          </a:p>
        </p:txBody>
      </p:sp>
      <p:pic>
        <p:nvPicPr>
          <p:cNvPr id="5" name="Picture 4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080760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640080"/>
            <a:ext cx="1405128" cy="32918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 i="0">
                <a:solidFill>
                  <a:srgbClr val="131416"/>
                </a:solidFill>
                <a:latin typeface="DM Sans"/>
              </a:rPr>
              <a:t>Our 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Strengthening collaboration for </a:t>
            </a:r>
            <a:r>
              <a:rPr sz="3600" b="1" i="0" spc="-36">
                <a:solidFill>
                  <a:srgbClr val="1F2FE0"/>
                </a:solidFill>
                <a:latin typeface="Inter"/>
              </a:rPr>
              <a:t>ISM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51660"/>
            <a:ext cx="822960" cy="38100"/>
          </a:xfrm>
          <a:prstGeom prst="rect">
            <a:avLst/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8026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 spc="-20">
                <a:solidFill>
                  <a:srgbClr val="131416"/>
                </a:solidFill>
                <a:latin typeface="DM Sans"/>
              </a:rPr>
              <a:t>Frontier Commons is a shared space where ministries serving international students can learn, build, and grow together.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8660"/>
            <a:ext cx="9601200" cy="26949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9400" indent="-27940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2000" b="0" i="0" spc="-20">
                <a:solidFill>
                  <a:srgbClr val="131416"/>
                </a:solidFill>
                <a:latin typeface="DM Sans"/>
              </a:rPr>
              <a:t>Missions on the bottom shelf — </a:t>
            </a:r>
            <a:r>
              <a:rPr sz="2000" b="1" i="0" spc="-20">
                <a:solidFill>
                  <a:srgbClr val="1F2FE0"/>
                </a:solidFill>
                <a:latin typeface="DM Sans"/>
              </a:rPr>
              <a:t>no previous experience</a:t>
            </a:r>
            <a:r>
              <a:rPr sz="2000" b="0" i="0" spc="-20">
                <a:solidFill>
                  <a:srgbClr val="131416"/>
                </a:solidFill>
                <a:latin typeface="DM Sans"/>
              </a:rPr>
              <a:t> required</a:t>
            </a:r>
          </a:p>
          <a:p>
            <a:pPr marL="279400" indent="-27940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2000" b="0" i="0" spc="-20">
                <a:solidFill>
                  <a:srgbClr val="131416"/>
                </a:solidFill>
                <a:latin typeface="DM Sans"/>
              </a:rPr>
              <a:t>Building bridges between ministries, not competing</a:t>
            </a:r>
          </a:p>
          <a:p>
            <a:pPr marL="279400" indent="-27940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2000" b="0" i="0" spc="-20">
                <a:solidFill>
                  <a:srgbClr val="131416"/>
                </a:solidFill>
                <a:latin typeface="DM Sans"/>
              </a:rPr>
              <a:t>Grounded in the realities of students worldwide</a:t>
            </a:r>
          </a:p>
        </p:txBody>
      </p:sp>
      <p:pic>
        <p:nvPicPr>
          <p:cNvPr id="7" name="Picture 6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4   Frontier Commons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43100"/>
            <a:ext cx="3271418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 spc="-216">
                <a:solidFill>
                  <a:srgbClr val="0D145F"/>
                </a:solidFill>
                <a:latin typeface="Inter"/>
              </a:rPr>
              <a:t>7M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06140"/>
            <a:ext cx="822960" cy="5080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34740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-20">
                <a:solidFill>
                  <a:srgbClr val="131416"/>
                </a:solidFill>
                <a:latin typeface="Inter"/>
              </a:rPr>
              <a:t>international students worldwide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57700"/>
            <a:ext cx="327141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F646D"/>
                </a:solidFill>
                <a:latin typeface="DM Sans"/>
              </a:rPr>
              <a:t>Studying outside their home country today.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60138" y="1943100"/>
            <a:ext cx="3271418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 spc="-216">
                <a:solidFill>
                  <a:srgbClr val="0D145F"/>
                </a:solidFill>
                <a:latin typeface="Inter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4460138" y="3406140"/>
            <a:ext cx="822960" cy="5080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60138" y="3634740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-20">
                <a:solidFill>
                  <a:srgbClr val="131416"/>
                </a:solidFill>
                <a:latin typeface="Inter"/>
              </a:rPr>
              <a:t>stages of the student journey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0138" y="4457700"/>
            <a:ext cx="327141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F646D"/>
                </a:solidFill>
                <a:latin typeface="DM Sans"/>
              </a:rPr>
              <a:t>From pre-arrival to re-entry home.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8756" y="1943100"/>
            <a:ext cx="3271418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90000"/>
              </a:lnSpc>
            </a:pPr>
            <a:r>
              <a:rPr sz="7200" b="1" i="0" spc="-216">
                <a:solidFill>
                  <a:srgbClr val="0D145F"/>
                </a:solidFill>
                <a:latin typeface="Inter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8756" y="3406140"/>
            <a:ext cx="822960" cy="5080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8756" y="3634740"/>
            <a:ext cx="327141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 spc="-20">
                <a:solidFill>
                  <a:srgbClr val="131416"/>
                </a:solidFill>
                <a:latin typeface="Inter"/>
              </a:rPr>
              <a:t>shared commons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8756" y="4457700"/>
            <a:ext cx="327141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5F646D"/>
                </a:solidFill>
                <a:latin typeface="DM Sans"/>
              </a:rPr>
              <a:t>For ministries to learn and build together.</a:t>
            </a:r>
          </a:p>
        </p:txBody>
      </p:sp>
      <p:pic>
        <p:nvPicPr>
          <p:cNvPr id="15" name="Picture 14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5   Frontier Commons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Core Principles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05000"/>
            <a:ext cx="2442133" cy="371094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16480"/>
            <a:ext cx="18934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31416"/>
                </a:solidFill>
                <a:latin typeface="Inter"/>
              </a:rPr>
              <a:t>Accessible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3906" y="2819400"/>
            <a:ext cx="1737360" cy="3175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002280"/>
            <a:ext cx="18934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31416"/>
                </a:solidFill>
                <a:latin typeface="Inter"/>
              </a:rPr>
              <a:t>over academic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916680"/>
            <a:ext cx="1893493" cy="1470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131416"/>
                </a:solidFill>
                <a:latin typeface="DM Sans"/>
              </a:rPr>
              <a:t>No previous experience, training, or interest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693" y="1905000"/>
            <a:ext cx="2442133" cy="371094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68013" y="2316480"/>
            <a:ext cx="18934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31416"/>
                </a:solidFill>
                <a:latin typeface="Inter"/>
              </a:rPr>
              <a:t>Collaborative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6079" y="2819400"/>
            <a:ext cx="1737360" cy="3175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68013" y="3002280"/>
            <a:ext cx="18934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31416"/>
                </a:solidFill>
                <a:latin typeface="Inter"/>
              </a:rPr>
              <a:t>over competitive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68013" y="3916680"/>
            <a:ext cx="1893493" cy="1470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131416"/>
                </a:solidFill>
                <a:latin typeface="DM Sans"/>
              </a:rPr>
              <a:t>Building bridges and creating shared spaces.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5867" y="1905000"/>
            <a:ext cx="2442133" cy="371094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0187" y="2316480"/>
            <a:ext cx="18934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31416"/>
                </a:solidFill>
                <a:latin typeface="Inter"/>
              </a:rPr>
              <a:t>Innovative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8253" y="2819400"/>
            <a:ext cx="1737360" cy="3175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0187" y="3002280"/>
            <a:ext cx="18934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31416"/>
                </a:solidFill>
                <a:latin typeface="Inter"/>
              </a:rPr>
              <a:t>over traditional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187" y="3916680"/>
            <a:ext cx="1893493" cy="1470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131416"/>
                </a:solidFill>
                <a:latin typeface="DM Sans"/>
              </a:rPr>
              <a:t>Fresh approaches through the innovation pipeline.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8041" y="1905000"/>
            <a:ext cx="2442133" cy="3710940"/>
          </a:xfrm>
          <a:prstGeom prst="roundRect">
            <a:avLst>
              <a:gd name="adj" fmla="val 10000"/>
            </a:avLst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2361" y="2316480"/>
            <a:ext cx="1893493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131416"/>
                </a:solidFill>
                <a:latin typeface="Inter"/>
              </a:rPr>
              <a:t>Global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0427" y="2819400"/>
            <a:ext cx="1737360" cy="3175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2361" y="3002280"/>
            <a:ext cx="189349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 i="0">
                <a:solidFill>
                  <a:srgbClr val="131416"/>
                </a:solidFill>
                <a:latin typeface="Inter"/>
              </a:rPr>
              <a:t>over Western-centric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2361" y="3916680"/>
            <a:ext cx="1893493" cy="1470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500" b="0" i="0">
                <a:solidFill>
                  <a:srgbClr val="131416"/>
                </a:solidFill>
                <a:latin typeface="DM Sans"/>
              </a:rPr>
              <a:t>Grounded in the perspectives of 7M students.</a:t>
            </a:r>
          </a:p>
        </p:txBody>
      </p:sp>
      <p:pic>
        <p:nvPicPr>
          <p:cNvPr id="23" name="Picture 22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6   Frontier Commons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The student journey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4385" y="2655570"/>
            <a:ext cx="8582924" cy="38100"/>
          </a:xfrm>
          <a:prstGeom prst="rect">
            <a:avLst/>
          </a:prstGeom>
          <a:solidFill>
            <a:srgbClr val="0D14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438625" y="2308860"/>
            <a:ext cx="731520" cy="73152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131416"/>
                </a:solidFill>
                <a:latin typeface="Inter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5819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Pre-Arrival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5819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Anticipation, fear, hope</a:t>
            </a:r>
          </a:p>
        </p:txBody>
      </p:sp>
      <p:sp>
        <p:nvSpPr>
          <p:cNvPr id="7" name="Oval 6"/>
          <p:cNvSpPr/>
          <p:nvPr/>
        </p:nvSpPr>
        <p:spPr>
          <a:xfrm>
            <a:off x="3584356" y="2308860"/>
            <a:ext cx="731520" cy="73152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131416"/>
                </a:solidFill>
                <a:latin typeface="Inter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1550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Arrival &amp; Orientation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1550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Overwhelmed, lonely, culture shock</a:t>
            </a:r>
          </a:p>
        </p:txBody>
      </p:sp>
      <p:sp>
        <p:nvSpPr>
          <p:cNvPr id="10" name="Oval 9"/>
          <p:cNvSpPr/>
          <p:nvPr/>
        </p:nvSpPr>
        <p:spPr>
          <a:xfrm>
            <a:off x="5730087" y="2308860"/>
            <a:ext cx="731520" cy="73152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131416"/>
                </a:solidFill>
                <a:latin typeface="Inter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7281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7281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Curious, conflicted, settled</a:t>
            </a:r>
          </a:p>
        </p:txBody>
      </p:sp>
      <p:sp>
        <p:nvSpPr>
          <p:cNvPr id="13" name="Oval 12"/>
          <p:cNvSpPr/>
          <p:nvPr/>
        </p:nvSpPr>
        <p:spPr>
          <a:xfrm>
            <a:off x="7875818" y="2308860"/>
            <a:ext cx="731520" cy="73152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131416"/>
                </a:solidFill>
                <a:latin typeface="Inter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3012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Leadership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3012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Empowered, confident, purposeful</a:t>
            </a:r>
          </a:p>
        </p:txBody>
      </p:sp>
      <p:sp>
        <p:nvSpPr>
          <p:cNvPr id="16" name="Oval 15"/>
          <p:cNvSpPr/>
          <p:nvPr/>
        </p:nvSpPr>
        <p:spPr>
          <a:xfrm>
            <a:off x="10021549" y="2308860"/>
            <a:ext cx="731520" cy="731520"/>
          </a:xfrm>
          <a:prstGeom prst="ellipse">
            <a:avLst/>
          </a:prstGeom>
          <a:solidFill>
            <a:srgbClr val="9C9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 i="0">
                <a:solidFill>
                  <a:srgbClr val="131416"/>
                </a:solidFill>
                <a:latin typeface="Inter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8743" y="3314700"/>
            <a:ext cx="191713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1" i="0">
                <a:solidFill>
                  <a:srgbClr val="0D145F"/>
                </a:solidFill>
                <a:latin typeface="DM Sans"/>
              </a:rPr>
              <a:t>Re-Entry Home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8743" y="3954780"/>
            <a:ext cx="1917131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0" i="0">
                <a:solidFill>
                  <a:srgbClr val="131416"/>
                </a:solidFill>
                <a:latin typeface="DM Sans"/>
              </a:rPr>
              <a:t>Reverse culture shock, determination</a:t>
            </a:r>
          </a:p>
        </p:txBody>
      </p:sp>
      <p:pic>
        <p:nvPicPr>
          <p:cNvPr id="19" name="Picture 18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7   Frontier Commons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72865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 spc="-36">
                <a:solidFill>
                  <a:srgbClr val="0D145F"/>
                </a:solidFill>
                <a:latin typeface="Inter"/>
              </a:rPr>
              <a:t>How we work together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77340"/>
            <a:ext cx="5090007" cy="43662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70167" y="1577340"/>
            <a:ext cx="5090007" cy="43662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43100"/>
            <a:ext cx="43584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spc="-22">
                <a:solidFill>
                  <a:srgbClr val="0D145F"/>
                </a:solidFill>
                <a:latin typeface="DM Sans"/>
              </a:rPr>
              <a:t>For ministries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91740"/>
            <a:ext cx="4358487" cy="3634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Shared research and data</a:t>
            </a:r>
          </a:p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Coordinated programs</a:t>
            </a:r>
          </a:p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Introductions to 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5927" y="1943100"/>
            <a:ext cx="435848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 spc="-22">
                <a:solidFill>
                  <a:srgbClr val="0D145F"/>
                </a:solidFill>
                <a:latin typeface="DM Sans"/>
              </a:rPr>
              <a:t>For 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5927" y="2491740"/>
            <a:ext cx="4358487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Friendships that begin on campus and continue after graduation.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35927" y="3324860"/>
            <a:ext cx="4358487" cy="36347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Mentoring</a:t>
            </a:r>
          </a:p>
          <a:p>
            <a:pPr marL="237490" indent="-237490">
              <a:lnSpc>
                <a:spcPct val="130000"/>
              </a:lnSpc>
              <a:spcAft>
                <a:spcPts val="1000"/>
              </a:spcAft>
              <a:buClr>
                <a:srgbClr val="0D145F"/>
              </a:buClr>
              <a:buFont typeface="Arial"/>
              <a:buChar char="•"/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Re-entry support</a:t>
            </a:r>
          </a:p>
        </p:txBody>
      </p:sp>
      <p:pic>
        <p:nvPicPr>
          <p:cNvPr id="10" name="Picture 9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8   Frontier Commons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g_86000377044791589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5120640" cy="539496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92240" y="1188720"/>
            <a:ext cx="838200" cy="32918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 i="0">
                <a:solidFill>
                  <a:srgbClr val="131416"/>
                </a:solidFill>
                <a:latin typeface="DM Sans"/>
              </a:rPr>
              <a:t>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92240" y="1737360"/>
            <a:ext cx="4967935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 spc="-34">
                <a:solidFill>
                  <a:srgbClr val="0D145F"/>
                </a:solidFill>
                <a:latin typeface="Inter"/>
              </a:rPr>
              <a:t>Friendships that cross borders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3007360"/>
            <a:ext cx="496793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 i="0" spc="-17">
                <a:solidFill>
                  <a:srgbClr val="131416"/>
                </a:solidFill>
                <a:latin typeface="DM Sans"/>
              </a:rPr>
              <a:t>A short story about the people behind the work. Use a real, relevant photo — no heavy filters.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F646D"/>
                </a:solidFill>
                <a:latin typeface="DM Sans"/>
              </a:rPr>
              <a:t>Photo: replace with your own</a:t>
            </a:r>
          </a:p>
        </p:txBody>
      </p:sp>
      <p:pic>
        <p:nvPicPr>
          <p:cNvPr id="7" name="Picture 6" descr="logo-icon-deep-bl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9   Frontier Commons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F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8288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0" b="1" i="0">
                <a:solidFill>
                  <a:srgbClr val="FABC20"/>
                </a:solidFill>
                <a:latin typeface="Inter"/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9601200" cy="2926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1" spc="-68">
                <a:solidFill>
                  <a:srgbClr val="0D145F"/>
                </a:solidFill>
                <a:latin typeface="DM Sans"/>
              </a:rPr>
              <a:t>We want to help others see new perspectives — adding to the work that already exists, not replacing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5074920"/>
            <a:ext cx="1097280" cy="50800"/>
          </a:xfrm>
          <a:prstGeom prst="rect">
            <a:avLst/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D145F"/>
                </a:solidFill>
                <a:latin typeface="DM Sans"/>
              </a:rPr>
              <a:t>Frontier Commons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F646D"/>
                </a:solidFill>
                <a:latin typeface="DM Sans"/>
              </a:rPr>
              <a:t>Voice &amp; Tone</a:t>
            </a:r>
          </a:p>
        </p:txBody>
      </p:sp>
      <p:pic>
        <p:nvPicPr>
          <p:cNvPr id="7" name="Picture 6" descr="logo-icon-deep-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F646D"/>
                </a:solidFill>
                <a:latin typeface="DM Sans"/>
              </a:rPr>
              <a:t>10   Frontier Commons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280160"/>
            <a:ext cx="1121664" cy="329184"/>
          </a:xfrm>
          <a:prstGeom prst="roundRect">
            <a:avLst>
              <a:gd name="adj" fmla="val 50000"/>
            </a:avLst>
          </a:prstGeom>
          <a:solidFill>
            <a:srgbClr val="FABC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200" b="1" i="0">
                <a:solidFill>
                  <a:srgbClr val="131416"/>
                </a:solidFill>
                <a:latin typeface="DM Sans"/>
              </a:rPr>
              <a:t>Our hope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800" b="1" i="0" spc="-96">
                <a:solidFill>
                  <a:srgbClr val="F3F4FA"/>
                </a:solidFill>
                <a:latin typeface="Inter"/>
              </a:rPr>
              <a:t>Empowering the next generation to share the gospel </a:t>
            </a:r>
            <a:r>
              <a:rPr sz="4800" b="1" i="0" spc="-96">
                <a:solidFill>
                  <a:srgbClr val="BCB4EE"/>
                </a:solidFill>
                <a:latin typeface="Inter"/>
              </a:rPr>
              <a:t>confidently</a:t>
            </a:r>
            <a:r>
              <a:rPr sz="4800" b="1" i="0" spc="-96">
                <a:solidFill>
                  <a:srgbClr val="F3F4FA"/>
                </a:solidFill>
                <a:latin typeface="Inter"/>
              </a:rPr>
              <a:t>.</a:t>
            </a:r>
          </a:p>
        </p:txBody>
      </p:sp>
      <p:pic>
        <p:nvPicPr>
          <p:cNvPr id="4" name="Picture 3" descr="logo-icon-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7567" y="6291072"/>
            <a:ext cx="292608" cy="2926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F3F4FA"/>
                </a:solidFill>
                <a:latin typeface="DM Sans"/>
              </a:rPr>
              <a:t>11   Frontier Commons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45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ordmark-stacked-m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227" y="1097280"/>
            <a:ext cx="2285241" cy="1737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333756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800" b="1" i="0">
                <a:solidFill>
                  <a:srgbClr val="F3F4FA"/>
                </a:solidFill>
                <a:latin typeface="Inter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0" i="0" spc="-44">
                <a:solidFill>
                  <a:srgbClr val="BCB4EE"/>
                </a:solidFill>
                <a:latin typeface="Inter"/>
              </a:rPr>
              <a:t>Let's build this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600" b="0" i="0">
                <a:solidFill>
                  <a:srgbClr val="F3F4FA"/>
                </a:solidFill>
                <a:latin typeface="DM Sans"/>
              </a:rPr>
              <a:t>[your.email@example.org]</a:t>
            </a:r>
          </a:p>
          <a:p>
            <a:pPr algn="ctr">
              <a:lnSpc>
                <a:spcPct val="140000"/>
              </a:lnSpc>
            </a:pPr>
            <a:r>
              <a:rPr sz="1600" b="0" i="0">
                <a:solidFill>
                  <a:srgbClr val="F3F4FA"/>
                </a:solidFill>
                <a:latin typeface="DM Sans"/>
              </a:rPr>
              <a:t>[website]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Frontier Commons — Sample Deck</dc:title>
  <dc:subject/>
  <dc:creator>Frontier Commons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