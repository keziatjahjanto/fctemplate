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 and thank them for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9144000" cy="23774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3F4FA"/>
                </a:solidFill>
                <a:latin typeface="Inter"/>
              </a:rPr>
              <a:t>Frontier</a:t>
            </a:r>
          </a:p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3F4FA"/>
                </a:solidFill>
                <a:latin typeface="Inter"/>
              </a:rPr>
              <a:t>Commons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24">
                <a:solidFill>
                  <a:srgbClr val="F3F4FA"/>
                </a:solidFill>
                <a:latin typeface="Inter"/>
              </a:rPr>
              <a:t>PARTNER BRIEFING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5897880"/>
            <a:ext cx="10728655" cy="12700"/>
          </a:xfrm>
          <a:prstGeom prst="rect">
            <a:avLst/>
          </a:prstGeom>
          <a:solidFill>
            <a:srgbClr val="F3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080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3F4FA"/>
                </a:solidFill>
                <a:latin typeface="DM Sans"/>
              </a:rPr>
              <a:t>September 2026</a:t>
            </a:r>
          </a:p>
        </p:txBody>
      </p:sp>
      <p:pic>
        <p:nvPicPr>
          <p:cNvPr id="6" name="Picture 5" descr="wordmark-horizontal-m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415" y="6108192"/>
            <a:ext cx="2606663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Today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77340"/>
            <a:ext cx="548640" cy="54864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131416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57734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spc="-44">
                <a:solidFill>
                  <a:srgbClr val="131416"/>
                </a:solidFill>
                <a:latin typeface="Inter"/>
              </a:rPr>
              <a:t>Who we are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537460"/>
            <a:ext cx="548640" cy="54864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131416"/>
                </a:solidFill>
                <a:latin typeface="Inte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53746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spc="-44">
                <a:solidFill>
                  <a:srgbClr val="131416"/>
                </a:solidFill>
                <a:latin typeface="Inter"/>
              </a:rPr>
              <a:t>Why international students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497580"/>
            <a:ext cx="548640" cy="54864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131416"/>
                </a:solidFill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9758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spc="-44">
                <a:solidFill>
                  <a:srgbClr val="131416"/>
                </a:solidFill>
                <a:latin typeface="Inter"/>
              </a:rPr>
              <a:t>How we work together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457700"/>
            <a:ext cx="548640" cy="54864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131416"/>
                </a:solidFill>
                <a:latin typeface="Inter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45770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spc="-44">
                <a:solidFill>
                  <a:srgbClr val="131416"/>
                </a:solidFill>
                <a:latin typeface="Inter"/>
              </a:rPr>
              <a:t>Next steps</a:t>
            </a:r>
          </a:p>
        </p:txBody>
      </p:sp>
      <p:pic>
        <p:nvPicPr>
          <p:cNvPr id="11" name="Picture 10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2   Frontier Commons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9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0388"/>
            <a:ext cx="12191695" cy="15875"/>
          </a:xfrm>
          <a:prstGeom prst="rect">
            <a:avLst/>
          </a:prstGeom>
          <a:solidFill>
            <a:srgbClr val="F3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96438"/>
            <a:ext cx="10728655" cy="2743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95000"/>
              </a:lnSpc>
            </a:pPr>
            <a:r>
              <a:rPr sz="11000" b="1" i="0" spc="-220">
                <a:solidFill>
                  <a:srgbClr val="F3F4FA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3F4FA"/>
                </a:solidFill>
                <a:latin typeface="DM Sans"/>
              </a:rPr>
              <a:t>01</a:t>
            </a:r>
          </a:p>
        </p:txBody>
      </p:sp>
      <p:pic>
        <p:nvPicPr>
          <p:cNvPr id="5" name="Picture 4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080760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0080"/>
            <a:ext cx="1405128" cy="329184"/>
          </a:xfrm>
          <a:prstGeom prst="roundRect">
            <a:avLst>
              <a:gd name="adj" fmla="val 50000"/>
            </a:avLst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200" b="1" i="0">
                <a:solidFill>
                  <a:srgbClr val="131416"/>
                </a:solidFill>
                <a:latin typeface="DM Sans"/>
              </a:rPr>
              <a:t>Our 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Strengthening collaboration for </a:t>
            </a:r>
            <a:r>
              <a:rPr sz="3600" b="1" i="0" spc="-36">
                <a:solidFill>
                  <a:srgbClr val="1F2FE0"/>
                </a:solidFill>
                <a:latin typeface="Inter"/>
              </a:rPr>
              <a:t>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51660"/>
            <a:ext cx="822960" cy="38100"/>
          </a:xfrm>
          <a:prstGeom prst="rect">
            <a:avLst/>
          </a:prstGeom>
          <a:solidFill>
            <a:srgbClr val="0D1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026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 spc="-20">
                <a:solidFill>
                  <a:srgbClr val="131416"/>
                </a:solidFill>
                <a:latin typeface="DM Sans"/>
              </a:rPr>
              <a:t>Frontier Commons is a shared space where ministries serving international students can learn, build, and grow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8660"/>
            <a:ext cx="9601200" cy="2694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2000" b="0" i="0" spc="-20">
                <a:solidFill>
                  <a:srgbClr val="131416"/>
                </a:solidFill>
                <a:latin typeface="DM Sans"/>
              </a:rPr>
              <a:t>Missions on the bottom shelf — </a:t>
            </a:r>
            <a:r>
              <a:rPr sz="2000" b="1" i="0" spc="-20">
                <a:solidFill>
                  <a:srgbClr val="1F2FE0"/>
                </a:solidFill>
                <a:latin typeface="DM Sans"/>
              </a:rPr>
              <a:t>no previous experience</a:t>
            </a:r>
            <a:r>
              <a:rPr sz="2000" b="0" i="0" spc="-20">
                <a:solidFill>
                  <a:srgbClr val="131416"/>
                </a:solidFill>
                <a:latin typeface="DM Sans"/>
              </a:rPr>
              <a:t> required</a:t>
            </a:r>
          </a:p>
          <a:p>
            <a:pPr marL="279400" indent="-27940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2000" b="0" i="0" spc="-20">
                <a:solidFill>
                  <a:srgbClr val="131416"/>
                </a:solidFill>
                <a:latin typeface="DM Sans"/>
              </a:rPr>
              <a:t>Building bridges between ministries, not competing</a:t>
            </a:r>
          </a:p>
          <a:p>
            <a:pPr marL="279400" indent="-27940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2000" b="0" i="0" spc="-20">
                <a:solidFill>
                  <a:srgbClr val="131416"/>
                </a:solidFill>
                <a:latin typeface="DM Sans"/>
              </a:rPr>
              <a:t>Grounded in the realities of students worldwide</a:t>
            </a:r>
          </a:p>
        </p:txBody>
      </p:sp>
      <p:pic>
        <p:nvPicPr>
          <p:cNvPr id="7" name="Picture 6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4   Frontier Commons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43100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 spc="-216">
                <a:solidFill>
                  <a:srgbClr val="0D145F"/>
                </a:solidFill>
                <a:latin typeface="Inter"/>
              </a:rPr>
              <a:t>7M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06140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347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spc="-20">
                <a:solidFill>
                  <a:srgbClr val="131416"/>
                </a:solidFill>
                <a:latin typeface="Inter"/>
              </a:rPr>
              <a:t>international students worldwide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57700"/>
            <a:ext cx="327141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F646D"/>
                </a:solidFill>
                <a:latin typeface="DM Sans"/>
              </a:rPr>
              <a:t>Studying outside their home country today.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0138" y="1943100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 spc="-216">
                <a:solidFill>
                  <a:srgbClr val="0D145F"/>
                </a:solidFill>
                <a:latin typeface="Inter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460138" y="3406140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0138" y="36347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spc="-20">
                <a:solidFill>
                  <a:srgbClr val="131416"/>
                </a:solidFill>
                <a:latin typeface="Inter"/>
              </a:rPr>
              <a:t>stages of the student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0138" y="4457700"/>
            <a:ext cx="327141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F646D"/>
                </a:solidFill>
                <a:latin typeface="DM Sans"/>
              </a:rPr>
              <a:t>From pre-arrival to re-entry home.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8756" y="1943100"/>
            <a:ext cx="3271418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 spc="-216">
                <a:solidFill>
                  <a:srgbClr val="0D145F"/>
                </a:solidFill>
                <a:latin typeface="Inter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8756" y="3406140"/>
            <a:ext cx="82296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8756" y="363474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 spc="-20">
                <a:solidFill>
                  <a:srgbClr val="131416"/>
                </a:solidFill>
                <a:latin typeface="Inter"/>
              </a:rPr>
              <a:t>shared commons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8756" y="4457700"/>
            <a:ext cx="327141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F646D"/>
                </a:solidFill>
                <a:latin typeface="DM Sans"/>
              </a:rPr>
              <a:t>For ministries to learn and build together.</a:t>
            </a:r>
          </a:p>
        </p:txBody>
      </p:sp>
      <p:pic>
        <p:nvPicPr>
          <p:cNvPr id="15" name="Picture 14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5   Frontier Commons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Core Principles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77340"/>
            <a:ext cx="2442133" cy="436626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88820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31416"/>
                </a:solidFill>
                <a:latin typeface="Inter"/>
              </a:rPr>
              <a:t>Accessible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3906" y="2491740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74620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31416"/>
                </a:solidFill>
                <a:latin typeface="Inter"/>
              </a:rPr>
              <a:t>over academic</a:t>
            </a:r>
          </a:p>
        </p:txBody>
      </p:sp>
      <p:pic>
        <p:nvPicPr>
          <p:cNvPr id="7" name="Picture 6" descr="door-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686" y="3497580"/>
            <a:ext cx="685800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4457700"/>
            <a:ext cx="1893493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131416"/>
                </a:solidFill>
                <a:latin typeface="DM Sans"/>
              </a:rPr>
              <a:t>No previous experience, training, or interest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693" y="1577340"/>
            <a:ext cx="2442133" cy="436626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8013" y="1988820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31416"/>
                </a:solidFill>
                <a:latin typeface="Inter"/>
              </a:rPr>
              <a:t>Collaborative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6079" y="2491740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8013" y="2674620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31416"/>
                </a:solidFill>
                <a:latin typeface="Inter"/>
              </a:rPr>
              <a:t>over competitive</a:t>
            </a:r>
          </a:p>
        </p:txBody>
      </p:sp>
      <p:pic>
        <p:nvPicPr>
          <p:cNvPr id="13" name="Picture 12" descr="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859" y="3497580"/>
            <a:ext cx="68580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68013" y="4457700"/>
            <a:ext cx="1893493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131416"/>
                </a:solidFill>
                <a:latin typeface="DM Sans"/>
              </a:rPr>
              <a:t>Building bridges and creating shared spaces.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7" y="1577340"/>
            <a:ext cx="2442133" cy="436626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0187" y="1988820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31416"/>
                </a:solidFill>
                <a:latin typeface="Inter"/>
              </a:rPr>
              <a:t>Innovative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8253" y="2491740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0187" y="2674620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31416"/>
                </a:solidFill>
                <a:latin typeface="Inter"/>
              </a:rPr>
              <a:t>over traditional</a:t>
            </a:r>
          </a:p>
        </p:txBody>
      </p:sp>
      <p:pic>
        <p:nvPicPr>
          <p:cNvPr id="19" name="Picture 18" descr="light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4033" y="3497580"/>
            <a:ext cx="685800" cy="685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0187" y="4457700"/>
            <a:ext cx="1893493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131416"/>
                </a:solidFill>
                <a:latin typeface="DM Sans"/>
              </a:rPr>
              <a:t>Fresh approaches through the innovation pipeline.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8041" y="1577340"/>
            <a:ext cx="2442133" cy="4366260"/>
          </a:xfrm>
          <a:prstGeom prst="roundRect">
            <a:avLst>
              <a:gd name="adj" fmla="val 10000"/>
            </a:avLst>
          </a:prstGeom>
          <a:solidFill>
            <a:srgbClr val="FFE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361" y="1988820"/>
            <a:ext cx="189349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31416"/>
                </a:solidFill>
                <a:latin typeface="Inter"/>
              </a:rPr>
              <a:t>Global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0427" y="2491740"/>
            <a:ext cx="1737360" cy="3175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2361" y="2674620"/>
            <a:ext cx="189349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31416"/>
                </a:solidFill>
                <a:latin typeface="Inter"/>
              </a:rPr>
              <a:t>over Western-centric</a:t>
            </a:r>
          </a:p>
        </p:txBody>
      </p:sp>
      <p:pic>
        <p:nvPicPr>
          <p:cNvPr id="25" name="Picture 24" descr="glo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6207" y="3497580"/>
            <a:ext cx="685800" cy="685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292361" y="4457700"/>
            <a:ext cx="1893493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 i="0">
                <a:solidFill>
                  <a:srgbClr val="131416"/>
                </a:solidFill>
                <a:latin typeface="DM Sans"/>
              </a:rPr>
              <a:t>Grounded in the perspectives of 7M students.</a:t>
            </a:r>
          </a:p>
        </p:txBody>
      </p:sp>
      <p:pic>
        <p:nvPicPr>
          <p:cNvPr id="27" name="Picture 26" descr="logo-icon-dee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6   Frontier Commons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The student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4385" y="2609850"/>
            <a:ext cx="8582924" cy="38100"/>
          </a:xfrm>
          <a:prstGeom prst="rect">
            <a:avLst/>
          </a:prstGeom>
          <a:solidFill>
            <a:srgbClr val="0D14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92905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gg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415" y="2414930"/>
            <a:ext cx="427940" cy="4279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5819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1. Pre-Arrival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Anticipation, fear, hope</a:t>
            </a:r>
          </a:p>
        </p:txBody>
      </p:sp>
      <p:sp>
        <p:nvSpPr>
          <p:cNvPr id="8" name="Oval 7"/>
          <p:cNvSpPr/>
          <p:nvPr/>
        </p:nvSpPr>
        <p:spPr>
          <a:xfrm>
            <a:off x="3538636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e-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146" y="2414930"/>
            <a:ext cx="427940" cy="4279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1550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2. Arrival &amp; Orientation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1550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Overwhelmed, lonely, culture shock</a:t>
            </a:r>
          </a:p>
        </p:txBody>
      </p:sp>
      <p:sp>
        <p:nvSpPr>
          <p:cNvPr id="12" name="Oval 11"/>
          <p:cNvSpPr/>
          <p:nvPr/>
        </p:nvSpPr>
        <p:spPr>
          <a:xfrm>
            <a:off x="5684367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uzz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1877" y="2414930"/>
            <a:ext cx="427940" cy="4279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37281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3.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7281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Curious, conflicted, settled</a:t>
            </a:r>
          </a:p>
        </p:txBody>
      </p:sp>
      <p:sp>
        <p:nvSpPr>
          <p:cNvPr id="16" name="Oval 15"/>
          <p:cNvSpPr/>
          <p:nvPr/>
        </p:nvSpPr>
        <p:spPr>
          <a:xfrm>
            <a:off x="7830098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608" y="2414930"/>
            <a:ext cx="427940" cy="4279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83012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4.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3012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Empowered, confident, purposeful</a:t>
            </a:r>
          </a:p>
        </p:txBody>
      </p:sp>
      <p:sp>
        <p:nvSpPr>
          <p:cNvPr id="20" name="Oval 19"/>
          <p:cNvSpPr/>
          <p:nvPr/>
        </p:nvSpPr>
        <p:spPr>
          <a:xfrm>
            <a:off x="9975829" y="2217420"/>
            <a:ext cx="822960" cy="822960"/>
          </a:xfrm>
          <a:prstGeom prst="ellipse">
            <a:avLst/>
          </a:prstGeom>
          <a:solidFill>
            <a:srgbClr val="9C9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lane-takeo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3339" y="2414930"/>
            <a:ext cx="427940" cy="4279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28743" y="3314700"/>
            <a:ext cx="19171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D145F"/>
                </a:solidFill>
                <a:latin typeface="DM Sans"/>
              </a:rPr>
              <a:t>5. Re-Entry 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8743" y="3954780"/>
            <a:ext cx="1917131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131416"/>
                </a:solidFill>
                <a:latin typeface="DM Sans"/>
              </a:rPr>
              <a:t>Reverse culture shock, determination</a:t>
            </a:r>
          </a:p>
        </p:txBody>
      </p:sp>
      <p:pic>
        <p:nvPicPr>
          <p:cNvPr id="24" name="Picture 23" descr="logo-icon-deep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7   Frontier Commons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36">
                <a:solidFill>
                  <a:srgbClr val="0D145F"/>
                </a:solidFill>
                <a:latin typeface="Inter"/>
              </a:rPr>
              <a:t>How we work together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77340"/>
            <a:ext cx="5090007" cy="4366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70167" y="1577340"/>
            <a:ext cx="5090007" cy="4366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4310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22">
                <a:solidFill>
                  <a:srgbClr val="0D145F"/>
                </a:solidFill>
                <a:latin typeface="DM Sans"/>
              </a:rPr>
              <a:t>For ministries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91740"/>
            <a:ext cx="4358487" cy="3634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Shared research and data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Coordinated programs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Introductions to partners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5927" y="194310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22">
                <a:solidFill>
                  <a:srgbClr val="0D145F"/>
                </a:solidFill>
                <a:latin typeface="DM Sans"/>
              </a:rPr>
              <a:t>For students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5927" y="2491740"/>
            <a:ext cx="435848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Friendships that begin on campus and continue after graduation.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5927" y="3324860"/>
            <a:ext cx="4358487" cy="3634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Mentoring</a:t>
            </a:r>
          </a:p>
          <a:p>
            <a:pPr marL="237490" indent="-237490">
              <a:lnSpc>
                <a:spcPct val="130000"/>
              </a:lnSpc>
              <a:spcAft>
                <a:spcPts val="1000"/>
              </a:spcAft>
              <a:buClr>
                <a:srgbClr val="0D145F"/>
              </a:buClr>
              <a:buFont typeface="Arial"/>
              <a:buChar char="•"/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Re-entry support</a:t>
            </a:r>
          </a:p>
        </p:txBody>
      </p:sp>
      <p:pic>
        <p:nvPicPr>
          <p:cNvPr id="10" name="Picture 9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8   Frontier Commons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9011723992152996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40080"/>
            <a:ext cx="5120640" cy="53949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492240" y="1188720"/>
            <a:ext cx="838200" cy="329184"/>
          </a:xfrm>
          <a:prstGeom prst="roundRect">
            <a:avLst>
              <a:gd name="adj" fmla="val 50000"/>
            </a:avLst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200" b="1" i="0">
                <a:solidFill>
                  <a:srgbClr val="131416"/>
                </a:solidFill>
                <a:latin typeface="DM Sans"/>
              </a:rPr>
              <a:t>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737360"/>
            <a:ext cx="49679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34">
                <a:solidFill>
                  <a:srgbClr val="0D145F"/>
                </a:solidFill>
                <a:latin typeface="Inter"/>
              </a:rPr>
              <a:t>Friendships that cross borders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3007360"/>
            <a:ext cx="496793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 spc="-17">
                <a:solidFill>
                  <a:srgbClr val="131416"/>
                </a:solidFill>
                <a:latin typeface="DM Sans"/>
              </a:rPr>
              <a:t>A short story about the people behind the work. Use a real, relevant photo — no heavy filters.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F646D"/>
                </a:solidFill>
                <a:latin typeface="DM Sans"/>
              </a:rPr>
              <a:t>Photo: replace with your own</a:t>
            </a:r>
          </a:p>
        </p:txBody>
      </p:sp>
      <p:pic>
        <p:nvPicPr>
          <p:cNvPr id="7" name="Picture 6" descr="logo-icon-deep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9   Frontier Commons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0" b="1" i="0">
                <a:solidFill>
                  <a:srgbClr val="FABC20"/>
                </a:solidFill>
                <a:latin typeface="Inter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9601200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1" spc="-68">
                <a:solidFill>
                  <a:srgbClr val="0D145F"/>
                </a:solidFill>
                <a:latin typeface="DM Sans"/>
              </a:rPr>
              <a:t>We want to help others see new perspectives — adding to the work that already exists, not replacing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5074920"/>
            <a:ext cx="1097280" cy="50800"/>
          </a:xfrm>
          <a:prstGeom prst="rect">
            <a:avLst/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D145F"/>
                </a:solidFill>
                <a:latin typeface="DM Sans"/>
              </a:rPr>
              <a:t>Frontier Commons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F646D"/>
                </a:solidFill>
                <a:latin typeface="DM Sans"/>
              </a:rPr>
              <a:t>Voice &amp; Tone</a:t>
            </a:r>
          </a:p>
        </p:txBody>
      </p:sp>
      <p:pic>
        <p:nvPicPr>
          <p:cNvPr id="7" name="Picture 6" descr="logo-icon-dee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46D"/>
                </a:solidFill>
                <a:latin typeface="DM Sans"/>
              </a:rPr>
              <a:t>10   Frontier Commons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280160"/>
            <a:ext cx="1121664" cy="329184"/>
          </a:xfrm>
          <a:prstGeom prst="roundRect">
            <a:avLst>
              <a:gd name="adj" fmla="val 50000"/>
            </a:avLst>
          </a:prstGeom>
          <a:solidFill>
            <a:srgbClr val="FAB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200" b="1" i="0">
                <a:solidFill>
                  <a:srgbClr val="131416"/>
                </a:solidFill>
                <a:latin typeface="DM Sans"/>
              </a:rPr>
              <a:t>Our 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 spc="-96">
                <a:solidFill>
                  <a:srgbClr val="F3F4FA"/>
                </a:solidFill>
                <a:latin typeface="Inter"/>
              </a:rPr>
              <a:t>Empowering the next generation to share the gospel </a:t>
            </a:r>
            <a:r>
              <a:rPr sz="4800" b="1" i="0" spc="-96">
                <a:solidFill>
                  <a:srgbClr val="BCB4EE"/>
                </a:solidFill>
                <a:latin typeface="Inter"/>
              </a:rPr>
              <a:t>confidently</a:t>
            </a:r>
            <a:r>
              <a:rPr sz="4800" b="1" i="0" spc="-96">
                <a:solidFill>
                  <a:srgbClr val="F3F4FA"/>
                </a:solidFill>
                <a:latin typeface="Inter"/>
              </a:rPr>
              <a:t>.</a:t>
            </a:r>
          </a:p>
        </p:txBody>
      </p:sp>
      <p:pic>
        <p:nvPicPr>
          <p:cNvPr id="4" name="Picture 3" descr="logo-icon-m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567" y="6291072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3F4FA"/>
                </a:solidFill>
                <a:latin typeface="DM Sans"/>
              </a:rPr>
              <a:t>11   Frontier Commons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stacked-m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227" y="1097280"/>
            <a:ext cx="2285241" cy="1737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33756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 i="0">
                <a:solidFill>
                  <a:srgbClr val="F3F4FA"/>
                </a:solidFill>
                <a:latin typeface="Inter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 spc="-44">
                <a:solidFill>
                  <a:srgbClr val="BCB4EE"/>
                </a:solidFill>
                <a:latin typeface="Inter"/>
              </a:rPr>
              <a:t>Let's build this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F3F4FA"/>
                </a:solidFill>
                <a:latin typeface="DM Sans"/>
              </a:rPr>
              <a:t>[your.email@example.org]</a:t>
            </a:r>
          </a:p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F3F4FA"/>
                </a:solidFill>
                <a:latin typeface="DM Sans"/>
              </a:rPr>
              <a:t>[website]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Commons — Sample Deck</dc:title>
  <dc:subject/>
  <dc:creator>Frontier Commons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