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and thank them for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9144000" cy="23774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3F4FA"/>
                </a:solidFill>
                <a:latin typeface="Inter"/>
              </a:rPr>
              <a:t>Frontier</a:t>
            </a:r>
          </a:p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3F4FA"/>
                </a:solidFill>
                <a:latin typeface="Inter"/>
              </a:rPr>
              <a:t>Commons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94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spc="-24">
                <a:solidFill>
                  <a:srgbClr val="F3F4FA"/>
                </a:solidFill>
                <a:latin typeface="Inter"/>
              </a:rPr>
              <a:t>PARTNER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897880"/>
            <a:ext cx="10728655" cy="12700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3F4FA"/>
                </a:solidFill>
                <a:latin typeface="DM Sans"/>
              </a:rPr>
              <a:t>September 2026</a:t>
            </a:r>
          </a:p>
        </p:txBody>
      </p:sp>
      <p:pic>
        <p:nvPicPr>
          <p:cNvPr id="6" name="Picture 5" descr="wordmark-horizontal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415" y="6108192"/>
            <a:ext cx="2606663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Today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7734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57734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Who we are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3746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3746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Why international students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9758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How we work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45770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45770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Next steps</a:t>
            </a:r>
          </a:p>
        </p:txBody>
      </p:sp>
      <p:pic>
        <p:nvPicPr>
          <p:cNvPr id="11" name="Picture 10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2   Frontier Commons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0388"/>
            <a:ext cx="12191695" cy="15875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96438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95000"/>
              </a:lnSpc>
            </a:pPr>
            <a:r>
              <a:rPr sz="11000" b="1" i="0" spc="-220">
                <a:solidFill>
                  <a:srgbClr val="F3F4FA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01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405128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Strengthening collaboration for </a:t>
            </a:r>
            <a:r>
              <a:rPr sz="3600" b="1" i="0" spc="-36">
                <a:solidFill>
                  <a:srgbClr val="1F2FE0"/>
                </a:solidFill>
                <a:latin typeface="Inter"/>
              </a:rPr>
              <a:t>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51660"/>
            <a:ext cx="822960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8026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Frontier Commons is a shared space where ministries serving international students can learn, build, and grow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8660"/>
            <a:ext cx="9601200" cy="2694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Missions on the bottom shelf — </a:t>
            </a:r>
            <a:r>
              <a:rPr sz="2000" b="1" i="0" spc="-20">
                <a:solidFill>
                  <a:srgbClr val="1F2FE0"/>
                </a:solidFill>
                <a:latin typeface="DM Sans"/>
              </a:rPr>
              <a:t>no previous experience</a:t>
            </a:r>
            <a:r>
              <a:rPr sz="2000" b="0" i="0" spc="-20">
                <a:solidFill>
                  <a:srgbClr val="131416"/>
                </a:solidFill>
                <a:latin typeface="DM Sans"/>
              </a:rPr>
              <a:t> required</a:t>
            </a:r>
          </a:p>
          <a:p>
            <a:pPr marL="279400" indent="-27940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Building bridges between ministries, not competing</a:t>
            </a:r>
          </a:p>
          <a:p>
            <a:pPr marL="279400" indent="-27940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Grounded in the realities of students worldwide</a:t>
            </a:r>
          </a:p>
        </p:txBody>
      </p:sp>
      <p:pic>
        <p:nvPicPr>
          <p:cNvPr id="7" name="Picture 6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4   Frontier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7M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international students worldwide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5770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Studying outside their home country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0138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stages of the student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0138" y="445770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From pre-arrival to re-entry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8756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8756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shared commons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8756" y="445770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For ministries to learn and build together.</a:t>
            </a:r>
          </a:p>
        </p:txBody>
      </p:sp>
      <p:pic>
        <p:nvPicPr>
          <p:cNvPr id="15" name="Picture 1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5   Frontier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Core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906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academic</a:t>
            </a:r>
          </a:p>
        </p:txBody>
      </p:sp>
      <p:pic>
        <p:nvPicPr>
          <p:cNvPr id="7" name="Picture 6" descr="door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86" y="349758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No previous experience, training, or interest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693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8013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Collaborative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6079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8013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competitive</a:t>
            </a:r>
          </a:p>
        </p:txBody>
      </p:sp>
      <p:pic>
        <p:nvPicPr>
          <p:cNvPr id="13" name="Picture 12" descr="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859" y="3497580"/>
            <a:ext cx="68580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68013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Building bridges and creating shared spaces.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Innovative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8253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0187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traditional</a:t>
            </a:r>
          </a:p>
        </p:txBody>
      </p:sp>
      <p:pic>
        <p:nvPicPr>
          <p:cNvPr id="19" name="Picture 18" descr="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033" y="3497580"/>
            <a:ext cx="68580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0187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Fresh approaches through the innovation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041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361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Global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0427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2361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Western-centric</a:t>
            </a:r>
          </a:p>
        </p:txBody>
      </p:sp>
      <p:pic>
        <p:nvPicPr>
          <p:cNvPr id="25" name="Picture 24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207" y="3497580"/>
            <a:ext cx="685800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92361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Grounded in the perspectives of 7M students.</a:t>
            </a:r>
          </a:p>
        </p:txBody>
      </p:sp>
      <p:pic>
        <p:nvPicPr>
          <p:cNvPr id="27" name="Picture 26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6   Frontier Commons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student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4385" y="2609850"/>
            <a:ext cx="8582924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92905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ugg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15" y="2414930"/>
            <a:ext cx="427940" cy="42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1. Pre-Arrival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19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Anticipation, fear, hope</a:t>
            </a:r>
          </a:p>
        </p:txBody>
      </p:sp>
      <p:sp>
        <p:nvSpPr>
          <p:cNvPr id="8" name="Oval 7"/>
          <p:cNvSpPr/>
          <p:nvPr/>
        </p:nvSpPr>
        <p:spPr>
          <a:xfrm>
            <a:off x="3538636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e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146" y="2414930"/>
            <a:ext cx="427940" cy="427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91550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2. Arrival &amp; Orientation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1550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Overwhelmed, lonely, culture shock</a:t>
            </a:r>
          </a:p>
        </p:txBody>
      </p:sp>
      <p:sp>
        <p:nvSpPr>
          <p:cNvPr id="12" name="Oval 11"/>
          <p:cNvSpPr/>
          <p:nvPr/>
        </p:nvSpPr>
        <p:spPr>
          <a:xfrm>
            <a:off x="5684367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77" y="2414930"/>
            <a:ext cx="427940" cy="427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37281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3.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7281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Curious, conflicted, settled</a:t>
            </a:r>
          </a:p>
        </p:txBody>
      </p:sp>
      <p:sp>
        <p:nvSpPr>
          <p:cNvPr id="16" name="Oval 15"/>
          <p:cNvSpPr/>
          <p:nvPr/>
        </p:nvSpPr>
        <p:spPr>
          <a:xfrm>
            <a:off x="7830098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608" y="2414930"/>
            <a:ext cx="427940" cy="4279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83012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4.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3012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Empowered, confident, purposeful</a:t>
            </a:r>
          </a:p>
        </p:txBody>
      </p:sp>
      <p:sp>
        <p:nvSpPr>
          <p:cNvPr id="20" name="Oval 19"/>
          <p:cNvSpPr/>
          <p:nvPr/>
        </p:nvSpPr>
        <p:spPr>
          <a:xfrm>
            <a:off x="9975829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lane-take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339" y="2414930"/>
            <a:ext cx="427940" cy="4279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8743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5. Re-Entry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8743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Reverse culture shock, determination</a:t>
            </a:r>
          </a:p>
        </p:txBody>
      </p:sp>
      <p:pic>
        <p:nvPicPr>
          <p:cNvPr id="24" name="Picture 23" descr="logo-icon-deep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7   Frontier Commons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How we work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0167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For ministries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9174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Shared research and data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Coordinated programs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Introductions to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5927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5927" y="2491740"/>
            <a:ext cx="43584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Friendships that begin on campus and continue after graduation.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927" y="332486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Mentoring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Re-entry support</a:t>
            </a:r>
          </a:p>
        </p:txBody>
      </p:sp>
      <p:pic>
        <p:nvPicPr>
          <p:cNvPr id="10" name="Picture 9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8   Frontier Commons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77795781962355412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5120640" cy="53949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92240" y="1188720"/>
            <a:ext cx="838200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737360"/>
            <a:ext cx="49679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34">
                <a:solidFill>
                  <a:srgbClr val="0D145F"/>
                </a:solidFill>
                <a:latin typeface="Inter"/>
              </a:rPr>
              <a:t>Friendships that cross borders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3007360"/>
            <a:ext cx="49679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A short story about the people behind the work. Use a real, relevant photo — no heavy filters.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F646D"/>
                </a:solidFill>
                <a:latin typeface="DM Sans"/>
              </a:rPr>
              <a:t>Photo: replace with your own</a:t>
            </a:r>
          </a:p>
        </p:txBody>
      </p:sp>
      <p:pic>
        <p:nvPicPr>
          <p:cNvPr id="7" name="Picture 6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9   Frontier Commons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0" b="1" i="0">
                <a:solidFill>
                  <a:srgbClr val="FABC20"/>
                </a:solidFill>
                <a:latin typeface="Inter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1" spc="-68">
                <a:solidFill>
                  <a:srgbClr val="0D145F"/>
                </a:solidFill>
                <a:latin typeface="DM Sans"/>
              </a:rPr>
              <a:t>We want to help others see new perspectives — adding to the work that already exists, not replacing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74920"/>
            <a:ext cx="109728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D145F"/>
                </a:solidFill>
                <a:latin typeface="DM Sans"/>
              </a:rPr>
              <a:t>Frontier Commons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Voice &amp; Tone</a:t>
            </a:r>
          </a:p>
        </p:txBody>
      </p:sp>
      <p:pic>
        <p:nvPicPr>
          <p:cNvPr id="7" name="Picture 6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10   Frontier Commons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280160"/>
            <a:ext cx="1121664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Our hope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 spc="-96">
                <a:solidFill>
                  <a:srgbClr val="F3F4FA"/>
                </a:solidFill>
                <a:latin typeface="Inter"/>
              </a:rPr>
              <a:t>Empowering the next generation to share the gospel </a:t>
            </a:r>
            <a:r>
              <a:rPr sz="4800" b="1" i="0" spc="-96">
                <a:solidFill>
                  <a:srgbClr val="BCB4EE"/>
                </a:solidFill>
                <a:latin typeface="Inter"/>
              </a:rPr>
              <a:t>confidently</a:t>
            </a:r>
            <a:r>
              <a:rPr sz="4800" b="1" i="0" spc="-96">
                <a:solidFill>
                  <a:srgbClr val="F3F4FA"/>
                </a:solidFill>
                <a:latin typeface="Inter"/>
              </a:rPr>
              <a:t>.</a:t>
            </a:r>
          </a:p>
        </p:txBody>
      </p:sp>
      <p:pic>
        <p:nvPicPr>
          <p:cNvPr id="4" name="Picture 3" descr="logo-icon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3F4FA"/>
                </a:solidFill>
                <a:latin typeface="DM Sans"/>
              </a:rPr>
              <a:t>11   Frontier Commons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stacked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27" y="1097280"/>
            <a:ext cx="2285241" cy="1737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3375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3F4FA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 spc="-44">
                <a:solidFill>
                  <a:srgbClr val="BCB4EE"/>
                </a:solidFill>
                <a:latin typeface="Inter"/>
              </a:rPr>
              <a:t>Let's build this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[your.email@example.org]</a:t>
            </a:r>
          </a:p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 Commons — Sample Deck</dc:title>
  <dc:subject/>
  <dc:creator>Frontier Commons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