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[Welcome and opening words]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[Invite people to share what they remember before showing the points]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[Quiet, prayer or settling in]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[question]. Give 1 minute of quiet. Listen for: [ideas]. Transition: "[next idea]"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ts-periwink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0" y="3566160"/>
            <a:ext cx="1554480" cy="3291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3444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70" b="1" i="0" spc="187">
                <a:solidFill>
                  <a:srgbClr val="BCB4EE"/>
                </a:solidFill>
                <a:latin typeface="DM Sans"/>
              </a:rPr>
              <a:t>FRONTIER COMMONS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852160" cy="189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760" b="1" i="0" spc="-230">
                <a:solidFill>
                  <a:srgbClr val="FFFFFF"/>
                </a:solidFill>
                <a:latin typeface="Inter"/>
              </a:rPr>
              <a:t>[PROGRAM</a:t>
            </a:r>
          </a:p>
          <a:p>
            <a:pPr algn="l">
              <a:lnSpc>
                <a:spcPct val="95000"/>
              </a:lnSpc>
            </a:pPr>
            <a:r>
              <a:rPr sz="5760" b="1" i="0" spc="-230">
                <a:solidFill>
                  <a:srgbClr val="FFFFFF"/>
                </a:solidFill>
                <a:latin typeface="Inter"/>
              </a:rPr>
              <a:t>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05632"/>
            <a:ext cx="5852160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10" b="1" i="1" spc="-132">
                <a:solidFill>
                  <a:srgbClr val="FABC20"/>
                </a:solidFill>
                <a:latin typeface="Inter"/>
              </a:rPr>
              <a:t>[SERIES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1020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BCB4EE"/>
                </a:solidFill>
                <a:latin typeface="DM Sans"/>
              </a:rPr>
              <a:t>[Week N]  ·  [Topic]  ·  [Date]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70" b="0" i="0">
                <a:solidFill>
                  <a:srgbClr val="F3F4FA"/>
                </a:solidFill>
                <a:latin typeface="DM Sans"/>
              </a:rPr>
              <a:t>[Organization]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731520" y="0"/>
            <a:ext cx="5175504" cy="685800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 i="0" spc="173">
                <a:solidFill>
                  <a:srgbClr val="15219D"/>
                </a:solidFill>
                <a:latin typeface="DM Sans"/>
              </a:rPr>
              <a:t>[WEEK N] · [TOPIC]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536192"/>
            <a:ext cx="3255264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b="1" i="0" spc="-117">
                <a:solidFill>
                  <a:srgbClr val="0D145F"/>
                </a:solidFill>
                <a:latin typeface="Inter"/>
              </a:rPr>
              <a:t>Recap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280160" cy="128016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st-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01261"/>
            <a:ext cx="1280160" cy="1280160"/>
          </a:xfrm>
          <a:prstGeom prst="rect">
            <a:avLst/>
          </a:prstGeom>
        </p:spPr>
      </p:pic>
      <p:pic>
        <p:nvPicPr>
          <p:cNvPr id="7" name="Picture 6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1602486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59552" y="155448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[Key idea from last week]</a:t>
            </a:r>
          </a:p>
        </p:txBody>
      </p:sp>
      <p:pic>
        <p:nvPicPr>
          <p:cNvPr id="9" name="Picture 8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772156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9552" y="272415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[Key idea from last week]</a:t>
            </a:r>
          </a:p>
        </p:txBody>
      </p:sp>
      <p:pic>
        <p:nvPicPr>
          <p:cNvPr id="11" name="Picture 10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3941826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59552" y="389382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[Key idea from last week]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7348"/>
            <a:ext cx="6309360" cy="1909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580" b="1" i="0" spc="-251">
                <a:solidFill>
                  <a:srgbClr val="0D145F"/>
                </a:solidFill>
                <a:latin typeface="Inter"/>
              </a:rPr>
              <a:t>Let's take a</a:t>
            </a:r>
          </a:p>
          <a:p>
            <a:pPr algn="l">
              <a:lnSpc>
                <a:spcPct val="95000"/>
              </a:lnSpc>
            </a:pPr>
            <a:r>
              <a:rPr sz="5580" b="1" i="0" spc="-251">
                <a:solidFill>
                  <a:srgbClr val="15219D"/>
                </a:solidFill>
                <a:latin typeface="Inter"/>
              </a:rPr>
              <a:t>pause</a:t>
            </a:r>
          </a:p>
        </p:txBody>
      </p:sp>
      <p:sp>
        <p:nvSpPr>
          <p:cNvPr id="3" name="Oval 2"/>
          <p:cNvSpPr/>
          <p:nvPr/>
        </p:nvSpPr>
        <p:spPr>
          <a:xfrm>
            <a:off x="7589520" y="1691640"/>
            <a:ext cx="3474720" cy="3474720"/>
          </a:xfrm>
          <a:prstGeom prst="ellipse">
            <a:avLst/>
          </a:prstGeom>
          <a:solidFill>
            <a:srgbClr val="EC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6487" y="2108607"/>
            <a:ext cx="2640786" cy="2640786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88706" y="2490826"/>
            <a:ext cx="1876348" cy="1876348"/>
          </a:xfrm>
          <a:prstGeom prst="ellipse">
            <a:avLst/>
          </a:prstGeom>
          <a:solidFill>
            <a:srgbClr val="BCB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53552" y="2855672"/>
            <a:ext cx="1146656" cy="1146656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83650" y="3185770"/>
            <a:ext cx="486460" cy="48646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ts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043" y="1483157"/>
            <a:ext cx="955548" cy="9555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tband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0"/>
            <a:ext cx="14447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8952" y="61264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40" b="1" i="0" spc="-82">
                <a:solidFill>
                  <a:srgbClr val="0D145F"/>
                </a:solidFill>
                <a:latin typeface="Inter"/>
              </a:rPr>
              <a:t>What [topic]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554480"/>
            <a:ext cx="6675120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40" b="0" i="0" spc="-97">
                <a:solidFill>
                  <a:srgbClr val="0D145F"/>
                </a:solidFill>
                <a:latin typeface="Inter"/>
              </a:rPr>
              <a:t>[One-sentence definition of the topic.]</a:t>
            </a:r>
          </a:p>
        </p:txBody>
      </p:sp>
      <p:sp>
        <p:nvSpPr>
          <p:cNvPr id="5" name="Oval 4"/>
          <p:cNvSpPr/>
          <p:nvPr/>
        </p:nvSpPr>
        <p:spPr>
          <a:xfrm>
            <a:off x="8229600" y="1920240"/>
            <a:ext cx="2474366" cy="2474366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ts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1163" y="1980590"/>
            <a:ext cx="905256" cy="9052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34856" y="2946196"/>
            <a:ext cx="1750161" cy="1750161"/>
          </a:xfrm>
          <a:prstGeom prst="roundRect">
            <a:avLst>
              <a:gd name="adj" fmla="val 20000"/>
            </a:avLst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6257" y="3187598"/>
            <a:ext cx="1267358" cy="126735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591702" y="4032504"/>
            <a:ext cx="482803" cy="482803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612648"/>
            <a:ext cx="1067379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40" b="1" i="0" spc="-82">
                <a:solidFill>
                  <a:srgbClr val="0D145F"/>
                </a:solidFill>
                <a:latin typeface="Inter"/>
              </a:rPr>
              <a:t>Where [topic] shows up</a:t>
            </a:r>
          </a:p>
        </p:txBody>
      </p:sp>
      <p:sp>
        <p:nvSpPr>
          <p:cNvPr id="3" name="Oval 2"/>
          <p:cNvSpPr/>
          <p:nvPr/>
        </p:nvSpPr>
        <p:spPr>
          <a:xfrm>
            <a:off x="2027377" y="2725991"/>
            <a:ext cx="788670" cy="78867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ok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689" y="2673413"/>
            <a:ext cx="788670" cy="788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" y="3809555"/>
            <a:ext cx="303977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88">
                <a:solidFill>
                  <a:srgbClr val="15219D"/>
                </a:solidFill>
                <a:latin typeface="DM Sans"/>
              </a:rPr>
              <a:t>[LABEL 1]</a:t>
            </a:r>
          </a:p>
        </p:txBody>
      </p:sp>
      <p:sp>
        <p:nvSpPr>
          <p:cNvPr id="6" name="Rectangle 5"/>
          <p:cNvSpPr/>
          <p:nvPr/>
        </p:nvSpPr>
        <p:spPr>
          <a:xfrm>
            <a:off x="1958797" y="4266120"/>
            <a:ext cx="1188720" cy="12700"/>
          </a:xfrm>
          <a:prstGeom prst="rect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4449000"/>
            <a:ext cx="303977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20" b="0" i="0">
                <a:solidFill>
                  <a:srgbClr val="131416"/>
                </a:solidFill>
                <a:latin typeface="DM Sans"/>
              </a:rPr>
              <a:t>[One or two sentences.]</a:t>
            </a:r>
          </a:p>
        </p:txBody>
      </p:sp>
      <p:sp>
        <p:nvSpPr>
          <p:cNvPr id="8" name="Oval 7"/>
          <p:cNvSpPr/>
          <p:nvPr/>
        </p:nvSpPr>
        <p:spPr>
          <a:xfrm>
            <a:off x="5570067" y="2725991"/>
            <a:ext cx="788670" cy="78867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ook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379" y="2673413"/>
            <a:ext cx="788670" cy="7886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5962" y="3809555"/>
            <a:ext cx="303977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88">
                <a:solidFill>
                  <a:srgbClr val="15219D"/>
                </a:solidFill>
                <a:latin typeface="DM Sans"/>
              </a:rPr>
              <a:t>[LABEL 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1487" y="4266120"/>
            <a:ext cx="1188720" cy="12700"/>
          </a:xfrm>
          <a:prstGeom prst="rect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5962" y="4449000"/>
            <a:ext cx="303977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20" b="0" i="0">
                <a:solidFill>
                  <a:srgbClr val="131416"/>
                </a:solidFill>
                <a:latin typeface="DM Sans"/>
              </a:rPr>
              <a:t>[One or two sentences.]</a:t>
            </a:r>
          </a:p>
        </p:txBody>
      </p:sp>
      <p:sp>
        <p:nvSpPr>
          <p:cNvPr id="13" name="Oval 12"/>
          <p:cNvSpPr/>
          <p:nvPr/>
        </p:nvSpPr>
        <p:spPr>
          <a:xfrm>
            <a:off x="9112757" y="2725991"/>
            <a:ext cx="788670" cy="78867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3069" y="2673413"/>
            <a:ext cx="788670" cy="7886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18652" y="3809555"/>
            <a:ext cx="303977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88">
                <a:solidFill>
                  <a:srgbClr val="15219D"/>
                </a:solidFill>
                <a:latin typeface="DM Sans"/>
              </a:rPr>
              <a:t>[LABEL 3]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44177" y="4266120"/>
            <a:ext cx="1188720" cy="12700"/>
          </a:xfrm>
          <a:prstGeom prst="rect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8652" y="4449000"/>
            <a:ext cx="303977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20" b="0" i="0">
                <a:solidFill>
                  <a:srgbClr val="131416"/>
                </a:solidFill>
                <a:latin typeface="DM Sans"/>
              </a:rPr>
              <a:t>[One or two sentences.]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6172200"/>
            <a:ext cx="1067379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 i="1">
                <a:solidFill>
                  <a:srgbClr val="5F646D"/>
                </a:solidFill>
                <a:latin typeface="DM Sans"/>
              </a:rPr>
              <a:t>[Scripture references and translation to be added]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731520" y="0"/>
            <a:ext cx="5175504" cy="685800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 i="0" spc="173">
                <a:solidFill>
                  <a:srgbClr val="15219D"/>
                </a:solidFill>
                <a:latin typeface="DM Sans"/>
              </a:rPr>
              <a:t>[WEEK N] · [TOPIC]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536192"/>
            <a:ext cx="3255264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b="1" i="0" spc="-117">
                <a:solidFill>
                  <a:srgbClr val="0D145F"/>
                </a:solidFill>
                <a:latin typeface="Inter"/>
              </a:rPr>
              <a:t>What [topic] looks like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280160" cy="128016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nd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01261"/>
            <a:ext cx="1280160" cy="1280160"/>
          </a:xfrm>
          <a:prstGeom prst="rect">
            <a:avLst/>
          </a:prstGeom>
        </p:spPr>
      </p:pic>
      <p:pic>
        <p:nvPicPr>
          <p:cNvPr id="7" name="Picture 6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1581150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59552" y="1533144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[A complete sentence describing it.]</a:t>
            </a:r>
          </a:p>
        </p:txBody>
      </p:sp>
      <p:pic>
        <p:nvPicPr>
          <p:cNvPr id="9" name="Picture 8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729484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9552" y="2681478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[A complete sentence describing it.]</a:t>
            </a:r>
          </a:p>
        </p:txBody>
      </p:sp>
      <p:pic>
        <p:nvPicPr>
          <p:cNvPr id="11" name="Picture 10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3877818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59552" y="3829812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[A complete sentence describing it.]</a:t>
            </a:r>
          </a:p>
        </p:txBody>
      </p:sp>
      <p:pic>
        <p:nvPicPr>
          <p:cNvPr id="13" name="Picture 12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5026152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59552" y="4978146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[A complete sentence describing it.]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737360"/>
            <a:ext cx="2414016" cy="17739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10800000">
            <a:off x="960120" y="3364992"/>
            <a:ext cx="457200" cy="38404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" y="2240280"/>
            <a:ext cx="777240" cy="100584"/>
          </a:xfrm>
          <a:prstGeom prst="roundRect">
            <a:avLst>
              <a:gd name="adj" fmla="val 50000"/>
            </a:avLst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" y="2496312"/>
            <a:ext cx="1417320" cy="100584"/>
          </a:xfrm>
          <a:prstGeom prst="roundRect">
            <a:avLst>
              <a:gd name="adj" fmla="val 50000"/>
            </a:avLst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52728" y="3127248"/>
            <a:ext cx="2286000" cy="1591056"/>
          </a:xfrm>
          <a:prstGeom prst="roundRect">
            <a:avLst>
              <a:gd name="adj" fmla="val 3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2898648" y="4572000"/>
            <a:ext cx="457200" cy="384048"/>
          </a:xfrm>
          <a:prstGeom prst="triangle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36776" y="3675888"/>
            <a:ext cx="1280160" cy="1005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36776" y="3931920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694944"/>
            <a:ext cx="66595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30" b="1" i="0" spc="-85">
                <a:solidFill>
                  <a:srgbClr val="0D145F"/>
                </a:solidFill>
                <a:latin typeface="Inter"/>
              </a:rPr>
              <a:t>Reflection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533144"/>
            <a:ext cx="6659575" cy="12700"/>
          </a:xfrm>
          <a:prstGeom prst="rect">
            <a:avLst/>
          </a:prstGeom>
          <a:solidFill>
            <a:srgbClr val="D6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00600" y="1770888"/>
            <a:ext cx="402336" cy="402336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 i="0">
                <a:solidFill>
                  <a:srgbClr val="131416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752600"/>
            <a:ext cx="60194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980" b="0" i="0" spc="-40">
                <a:solidFill>
                  <a:srgbClr val="0D145F"/>
                </a:solidFill>
                <a:latin typeface="Inter"/>
              </a:rPr>
              <a:t>[Open question starting with What / How / Why?]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726944"/>
            <a:ext cx="6659575" cy="12700"/>
          </a:xfrm>
          <a:prstGeom prst="rect">
            <a:avLst/>
          </a:prstGeom>
          <a:solidFill>
            <a:srgbClr val="D6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0600" y="2964688"/>
            <a:ext cx="402336" cy="402336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 i="0">
                <a:solidFill>
                  <a:srgbClr val="131416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946400"/>
            <a:ext cx="60194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980" b="0" i="0" spc="-40">
                <a:solidFill>
                  <a:srgbClr val="0D145F"/>
                </a:solidFill>
                <a:latin typeface="Inter"/>
              </a:rPr>
              <a:t>[Open question starting with What / How / Why?]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3920744"/>
            <a:ext cx="6659575" cy="12700"/>
          </a:xfrm>
          <a:prstGeom prst="rect">
            <a:avLst/>
          </a:prstGeom>
          <a:solidFill>
            <a:srgbClr val="D6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4158488"/>
            <a:ext cx="402336" cy="402336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 i="0">
                <a:solidFill>
                  <a:srgbClr val="131416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140200"/>
            <a:ext cx="60194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980" b="0" i="0" spc="-40">
                <a:solidFill>
                  <a:srgbClr val="0D145F"/>
                </a:solidFill>
                <a:latin typeface="Inter"/>
              </a:rPr>
              <a:t>[Open question starting with What / How / Why?]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612648"/>
            <a:ext cx="1067379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40" b="1" i="0" spc="-82">
                <a:solidFill>
                  <a:srgbClr val="0D145F"/>
                </a:solidFill>
                <a:latin typeface="Inter"/>
              </a:rPr>
              <a:t>Why [topic] matters</a:t>
            </a:r>
          </a:p>
        </p:txBody>
      </p:sp>
      <p:sp>
        <p:nvSpPr>
          <p:cNvPr id="3" name="Oval 2"/>
          <p:cNvSpPr/>
          <p:nvPr/>
        </p:nvSpPr>
        <p:spPr>
          <a:xfrm>
            <a:off x="1584540" y="2383091"/>
            <a:ext cx="788670" cy="78867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52" y="2330513"/>
            <a:ext cx="788670" cy="788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" y="3466655"/>
            <a:ext cx="2154097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88">
                <a:solidFill>
                  <a:srgbClr val="15219D"/>
                </a:solidFill>
                <a:latin typeface="DM Sans"/>
              </a:rPr>
              <a:t>[REASON 1]</a:t>
            </a:r>
          </a:p>
        </p:txBody>
      </p:sp>
      <p:sp>
        <p:nvSpPr>
          <p:cNvPr id="6" name="Rectangle 5"/>
          <p:cNvSpPr/>
          <p:nvPr/>
        </p:nvSpPr>
        <p:spPr>
          <a:xfrm>
            <a:off x="1515960" y="3923220"/>
            <a:ext cx="1188720" cy="12700"/>
          </a:xfrm>
          <a:prstGeom prst="rect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4106100"/>
            <a:ext cx="215409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30" b="0" i="0">
                <a:solidFill>
                  <a:srgbClr val="131416"/>
                </a:solidFill>
                <a:latin typeface="DM Sans"/>
              </a:rPr>
              <a:t>[One or two sentences.]</a:t>
            </a:r>
          </a:p>
        </p:txBody>
      </p:sp>
      <p:sp>
        <p:nvSpPr>
          <p:cNvPr id="8" name="Oval 7"/>
          <p:cNvSpPr/>
          <p:nvPr/>
        </p:nvSpPr>
        <p:spPr>
          <a:xfrm>
            <a:off x="4241557" y="2383091"/>
            <a:ext cx="788670" cy="78867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869" y="2330513"/>
            <a:ext cx="788670" cy="7886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90289" y="3466655"/>
            <a:ext cx="2154097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88">
                <a:solidFill>
                  <a:srgbClr val="15219D"/>
                </a:solidFill>
                <a:latin typeface="DM Sans"/>
              </a:rPr>
              <a:t>[REASON 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2977" y="3923220"/>
            <a:ext cx="1188720" cy="12700"/>
          </a:xfrm>
          <a:prstGeom prst="rect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0289" y="4106100"/>
            <a:ext cx="215409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30" b="0" i="0">
                <a:solidFill>
                  <a:srgbClr val="131416"/>
                </a:solidFill>
                <a:latin typeface="DM Sans"/>
              </a:rPr>
              <a:t>[One or two sentences.]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0289" y="4826190"/>
            <a:ext cx="215409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0D145F"/>
                </a:solidFill>
                <a:latin typeface="DM Sans"/>
              </a:rPr>
              <a:t>[Scripture reference]</a:t>
            </a:r>
          </a:p>
        </p:txBody>
      </p:sp>
      <p:sp>
        <p:nvSpPr>
          <p:cNvPr id="14" name="Oval 13"/>
          <p:cNvSpPr/>
          <p:nvPr/>
        </p:nvSpPr>
        <p:spPr>
          <a:xfrm>
            <a:off x="6898575" y="2383091"/>
            <a:ext cx="788670" cy="78867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ok-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887" y="2330513"/>
            <a:ext cx="788670" cy="7886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47307" y="3466655"/>
            <a:ext cx="2154097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88">
                <a:solidFill>
                  <a:srgbClr val="15219D"/>
                </a:solidFill>
                <a:latin typeface="DM Sans"/>
              </a:rPr>
              <a:t>[REASON 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29995" y="3923220"/>
            <a:ext cx="1188720" cy="12700"/>
          </a:xfrm>
          <a:prstGeom prst="rect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4106100"/>
            <a:ext cx="215409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30" b="0" i="0">
                <a:solidFill>
                  <a:srgbClr val="131416"/>
                </a:solidFill>
                <a:latin typeface="DM Sans"/>
              </a:rPr>
              <a:t>[One or two sentences.]</a:t>
            </a:r>
          </a:p>
        </p:txBody>
      </p:sp>
      <p:sp>
        <p:nvSpPr>
          <p:cNvPr id="19" name="Oval 18"/>
          <p:cNvSpPr/>
          <p:nvPr/>
        </p:nvSpPr>
        <p:spPr>
          <a:xfrm>
            <a:off x="9555593" y="2383091"/>
            <a:ext cx="788670" cy="78867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905" y="2330513"/>
            <a:ext cx="788670" cy="7886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04325" y="3466655"/>
            <a:ext cx="2154097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88">
                <a:solidFill>
                  <a:srgbClr val="15219D"/>
                </a:solidFill>
                <a:latin typeface="DM Sans"/>
              </a:rPr>
              <a:t>[REASON 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87013" y="3923220"/>
            <a:ext cx="1188720" cy="12700"/>
          </a:xfrm>
          <a:prstGeom prst="rect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4325" y="4106100"/>
            <a:ext cx="215409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30" b="0" i="0">
                <a:solidFill>
                  <a:srgbClr val="131416"/>
                </a:solidFill>
                <a:latin typeface="DM Sans"/>
              </a:rPr>
              <a:t>[One or two sentences.]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7348"/>
            <a:ext cx="6309360" cy="1909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580" b="1" i="0" spc="-251">
                <a:solidFill>
                  <a:srgbClr val="0D145F"/>
                </a:solidFill>
                <a:latin typeface="Inter"/>
              </a:rPr>
              <a:t>[Part two</a:t>
            </a:r>
          </a:p>
          <a:p>
            <a:pPr algn="l">
              <a:lnSpc>
                <a:spcPct val="95000"/>
              </a:lnSpc>
            </a:pPr>
            <a:r>
              <a:rPr sz="5580" b="1" i="0" spc="-251">
                <a:solidFill>
                  <a:srgbClr val="15219D"/>
                </a:solidFill>
                <a:latin typeface="Inter"/>
              </a:rPr>
              <a:t>title]</a:t>
            </a:r>
          </a:p>
        </p:txBody>
      </p:sp>
      <p:sp>
        <p:nvSpPr>
          <p:cNvPr id="3" name="Oval 2"/>
          <p:cNvSpPr/>
          <p:nvPr/>
        </p:nvSpPr>
        <p:spPr>
          <a:xfrm>
            <a:off x="7589520" y="1600200"/>
            <a:ext cx="2849270" cy="284927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ts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835" y="1669694"/>
            <a:ext cx="1042416" cy="10424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631936" y="2781604"/>
            <a:ext cx="2015337" cy="2015337"/>
          </a:xfrm>
          <a:prstGeom prst="roundRect">
            <a:avLst>
              <a:gd name="adj" fmla="val 20000"/>
            </a:avLst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913" y="3059582"/>
            <a:ext cx="1459382" cy="145938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006486" y="4032504"/>
            <a:ext cx="555955" cy="555955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731520" y="0"/>
            <a:ext cx="5175504" cy="685800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 i="0" spc="173">
                <a:solidFill>
                  <a:srgbClr val="15219D"/>
                </a:solidFill>
                <a:latin typeface="DM Sans"/>
              </a:rPr>
              <a:t>[WEEK N] · [TOPIC]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536192"/>
            <a:ext cx="3255264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b="1" i="0" spc="-117">
                <a:solidFill>
                  <a:srgbClr val="0D145F"/>
                </a:solidFill>
                <a:latin typeface="Inter"/>
              </a:rPr>
              <a:t>[Application point title]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280160" cy="128016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01261"/>
            <a:ext cx="1280160" cy="1280160"/>
          </a:xfrm>
          <a:prstGeom prst="rect">
            <a:avLst/>
          </a:prstGeom>
        </p:spPr>
      </p:pic>
      <p:pic>
        <p:nvPicPr>
          <p:cNvPr id="7" name="Picture 6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1602486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59552" y="155448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[Supporting point.]</a:t>
            </a:r>
          </a:p>
        </p:txBody>
      </p:sp>
      <p:pic>
        <p:nvPicPr>
          <p:cNvPr id="9" name="Picture 8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772156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9552" y="272415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[Supporting point.]</a:t>
            </a:r>
          </a:p>
        </p:txBody>
      </p:sp>
      <p:pic>
        <p:nvPicPr>
          <p:cNvPr id="11" name="Picture 10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3941826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59552" y="389382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[Supporting point.]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01487" y="621792"/>
            <a:ext cx="891540" cy="89154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ssage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231" y="562356"/>
            <a:ext cx="891540" cy="891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1737360"/>
            <a:ext cx="9265615" cy="2651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3060" b="0" i="0" spc="-92">
                <a:solidFill>
                  <a:srgbClr val="0D145F"/>
                </a:solidFill>
                <a:latin typeface="Inter"/>
              </a:rPr>
              <a:t>“[A key quote to sit with.]”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4572000"/>
            <a:ext cx="8899855" cy="1234440"/>
          </a:xfrm>
          <a:prstGeom prst="roundRect">
            <a:avLst>
              <a:gd name="adj" fmla="val 30000"/>
            </a:avLst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4572000"/>
            <a:ext cx="7985455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530" b="0" i="1">
                <a:solidFill>
                  <a:srgbClr val="0D145F"/>
                </a:solidFill>
                <a:latin typeface="DM Sans"/>
              </a:rPr>
              <a:t>[A follow-up reflection question for the room?]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7348"/>
            <a:ext cx="6309360" cy="1909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580" b="1" i="0" spc="-251">
                <a:solidFill>
                  <a:srgbClr val="0D145F"/>
                </a:solidFill>
                <a:latin typeface="Inter"/>
              </a:rPr>
              <a:t>[Part three</a:t>
            </a:r>
          </a:p>
          <a:p>
            <a:pPr algn="l">
              <a:lnSpc>
                <a:spcPct val="95000"/>
              </a:lnSpc>
            </a:pPr>
            <a:r>
              <a:rPr sz="5580" b="1" i="0" spc="-251">
                <a:solidFill>
                  <a:srgbClr val="15219D"/>
                </a:solidFill>
                <a:latin typeface="Inter"/>
              </a:rPr>
              <a:t>title]</a:t>
            </a:r>
          </a:p>
        </p:txBody>
      </p:sp>
      <p:sp>
        <p:nvSpPr>
          <p:cNvPr id="3" name="Oval 2"/>
          <p:cNvSpPr/>
          <p:nvPr/>
        </p:nvSpPr>
        <p:spPr>
          <a:xfrm>
            <a:off x="7589520" y="1600200"/>
            <a:ext cx="2849270" cy="284927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ts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835" y="1669694"/>
            <a:ext cx="1042416" cy="10424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631936" y="2781604"/>
            <a:ext cx="2015337" cy="2015337"/>
          </a:xfrm>
          <a:prstGeom prst="roundRect">
            <a:avLst>
              <a:gd name="adj" fmla="val 20000"/>
            </a:avLst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ark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913" y="3059582"/>
            <a:ext cx="1459382" cy="145938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006486" y="4032504"/>
            <a:ext cx="555955" cy="555955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731520" y="0"/>
            <a:ext cx="5175504" cy="685800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 i="0" spc="173">
                <a:solidFill>
                  <a:srgbClr val="15219D"/>
                </a:solidFill>
                <a:latin typeface="DM Sans"/>
              </a:rPr>
              <a:t>[WEEK N] · [TOPIC]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536192"/>
            <a:ext cx="3255264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b="1" i="0" spc="-117">
                <a:solidFill>
                  <a:srgbClr val="0D145F"/>
                </a:solidFill>
                <a:latin typeface="Inter"/>
              </a:rPr>
              <a:t>[Building point title]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280160" cy="128016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01261"/>
            <a:ext cx="1280160" cy="1280160"/>
          </a:xfrm>
          <a:prstGeom prst="rect">
            <a:avLst/>
          </a:prstGeom>
        </p:spPr>
      </p:pic>
      <p:pic>
        <p:nvPicPr>
          <p:cNvPr id="7" name="Picture 6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1602486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59552" y="155448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[Supporting point.]</a:t>
            </a:r>
          </a:p>
        </p:txBody>
      </p:sp>
      <p:pic>
        <p:nvPicPr>
          <p:cNvPr id="9" name="Picture 8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772156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9552" y="272415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[Supporting point.]</a:t>
            </a:r>
          </a:p>
        </p:txBody>
      </p:sp>
      <p:pic>
        <p:nvPicPr>
          <p:cNvPr id="11" name="Picture 10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3941826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59552" y="389382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[Supporting point.]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612648"/>
            <a:ext cx="1067379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40" b="1" i="0" spc="-82">
                <a:solidFill>
                  <a:srgbClr val="0D145F"/>
                </a:solidFill>
                <a:latin typeface="Inter"/>
              </a:rPr>
              <a:t>[Three-part idea title]</a:t>
            </a:r>
          </a:p>
        </p:txBody>
      </p:sp>
      <p:sp>
        <p:nvSpPr>
          <p:cNvPr id="3" name="Oval 2"/>
          <p:cNvSpPr/>
          <p:nvPr/>
        </p:nvSpPr>
        <p:spPr>
          <a:xfrm>
            <a:off x="2027377" y="2725991"/>
            <a:ext cx="788670" cy="78867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st-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689" y="2673413"/>
            <a:ext cx="788670" cy="788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" y="3809555"/>
            <a:ext cx="303977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88">
                <a:solidFill>
                  <a:srgbClr val="15219D"/>
                </a:solidFill>
                <a:latin typeface="DM Sans"/>
              </a:rPr>
              <a:t>[WORD 1]</a:t>
            </a:r>
          </a:p>
        </p:txBody>
      </p:sp>
      <p:sp>
        <p:nvSpPr>
          <p:cNvPr id="6" name="Rectangle 5"/>
          <p:cNvSpPr/>
          <p:nvPr/>
        </p:nvSpPr>
        <p:spPr>
          <a:xfrm>
            <a:off x="1958797" y="4266120"/>
            <a:ext cx="1188720" cy="12700"/>
          </a:xfrm>
          <a:prstGeom prst="rect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4449000"/>
            <a:ext cx="303977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20" b="0" i="0">
                <a:solidFill>
                  <a:srgbClr val="131416"/>
                </a:solidFill>
                <a:latin typeface="DM Sans"/>
              </a:rPr>
              <a:t>[One or two sentences.]</a:t>
            </a:r>
          </a:p>
        </p:txBody>
      </p:sp>
      <p:sp>
        <p:nvSpPr>
          <p:cNvPr id="8" name="Oval 7"/>
          <p:cNvSpPr/>
          <p:nvPr/>
        </p:nvSpPr>
        <p:spPr>
          <a:xfrm>
            <a:off x="5570067" y="2725991"/>
            <a:ext cx="788670" cy="78867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gnp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2673413"/>
            <a:ext cx="788670" cy="7886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5962" y="3809555"/>
            <a:ext cx="303977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88">
                <a:solidFill>
                  <a:srgbClr val="15219D"/>
                </a:solidFill>
                <a:latin typeface="DM Sans"/>
              </a:rPr>
              <a:t>[WORD 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1487" y="4266120"/>
            <a:ext cx="1188720" cy="12700"/>
          </a:xfrm>
          <a:prstGeom prst="rect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5962" y="4449000"/>
            <a:ext cx="303977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20" b="0" i="0">
                <a:solidFill>
                  <a:srgbClr val="131416"/>
                </a:solidFill>
                <a:latin typeface="DM Sans"/>
              </a:rPr>
              <a:t>[One or two sentences.]</a:t>
            </a:r>
          </a:p>
        </p:txBody>
      </p:sp>
      <p:sp>
        <p:nvSpPr>
          <p:cNvPr id="13" name="Oval 12"/>
          <p:cNvSpPr/>
          <p:nvPr/>
        </p:nvSpPr>
        <p:spPr>
          <a:xfrm>
            <a:off x="9112757" y="2725991"/>
            <a:ext cx="788670" cy="78867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069" y="2673413"/>
            <a:ext cx="788670" cy="7886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18652" y="3809555"/>
            <a:ext cx="303977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88">
                <a:solidFill>
                  <a:srgbClr val="15219D"/>
                </a:solidFill>
                <a:latin typeface="DM Sans"/>
              </a:rPr>
              <a:t>[WORD 3]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44177" y="4266120"/>
            <a:ext cx="1188720" cy="12700"/>
          </a:xfrm>
          <a:prstGeom prst="rect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8652" y="4449000"/>
            <a:ext cx="303977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20" b="0" i="0">
                <a:solidFill>
                  <a:srgbClr val="131416"/>
                </a:solidFill>
                <a:latin typeface="DM Sans"/>
              </a:rPr>
              <a:t>[One or two sentences.]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731520" y="0"/>
            <a:ext cx="5175504" cy="685800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 i="0" spc="173">
                <a:solidFill>
                  <a:srgbClr val="15219D"/>
                </a:solidFill>
                <a:latin typeface="DM Sans"/>
              </a:rPr>
              <a:t>[WEEK N] · [TOPIC]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536192"/>
            <a:ext cx="3255264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b="1" i="0" spc="-117">
                <a:solidFill>
                  <a:srgbClr val="0D145F"/>
                </a:solidFill>
                <a:latin typeface="Inter"/>
              </a:rPr>
              <a:t>Kingdom impact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280160" cy="128016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01261"/>
            <a:ext cx="1280160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4064" y="731520"/>
            <a:ext cx="64675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40" b="0" i="0">
                <a:solidFill>
                  <a:srgbClr val="5F646D"/>
                </a:solidFill>
                <a:latin typeface="DM Sans"/>
              </a:rPr>
              <a:t>As Christ-followers, we should ask ourselves:</a:t>
            </a:r>
          </a:p>
        </p:txBody>
      </p:sp>
      <p:pic>
        <p:nvPicPr>
          <p:cNvPr id="8" name="Picture 7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059686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59552" y="201168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[Self-check question?]</a:t>
            </a:r>
          </a:p>
        </p:txBody>
      </p:sp>
      <p:pic>
        <p:nvPicPr>
          <p:cNvPr id="10" name="Picture 9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3229356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9552" y="318135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[Self-check question?]</a:t>
            </a:r>
          </a:p>
        </p:txBody>
      </p:sp>
      <p:pic>
        <p:nvPicPr>
          <p:cNvPr id="12" name="Picture 11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4399026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59552" y="435102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[Self-check question?]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tband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0"/>
            <a:ext cx="14447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8952" y="612648"/>
            <a:ext cx="1067379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40" b="1" i="0" spc="-82">
                <a:solidFill>
                  <a:srgbClr val="0D145F"/>
                </a:solidFill>
                <a:latin typeface="Inter"/>
              </a:rPr>
              <a:t>[Tool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343406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 i="0" spc="173">
                <a:solidFill>
                  <a:srgbClr val="15219D"/>
                </a:solidFill>
                <a:latin typeface="DM Sans"/>
              </a:rPr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36014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60" b="0" i="0">
                <a:solidFill>
                  <a:srgbClr val="131416"/>
                </a:solidFill>
                <a:latin typeface="DM Sans"/>
              </a:rPr>
              <a:t>[What this tool helps you do.]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086356"/>
            <a:ext cx="3429000" cy="12700"/>
          </a:xfrm>
          <a:prstGeom prst="rect">
            <a:avLst/>
          </a:prstGeom>
          <a:solidFill>
            <a:srgbClr val="D6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96084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 i="0" spc="173">
                <a:solidFill>
                  <a:srgbClr val="15219D"/>
                </a:solidFill>
                <a:latin typeface="DM Sans"/>
              </a:rP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88692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60" b="0" i="0">
                <a:solidFill>
                  <a:srgbClr val="131416"/>
                </a:solidFill>
                <a:latin typeface="DM Sans"/>
              </a:rPr>
              <a:t>[What you should come away with.]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2939034"/>
            <a:ext cx="3429000" cy="12700"/>
          </a:xfrm>
          <a:prstGeom prst="rect">
            <a:avLst/>
          </a:prstGeom>
          <a:solidFill>
            <a:srgbClr val="D6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04876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 i="0" spc="173">
                <a:solidFill>
                  <a:srgbClr val="15219D"/>
                </a:solidFill>
                <a:latin typeface="DM Sans"/>
              </a:rPr>
              <a:t>KEEP IN MIND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34137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60" b="0" i="0">
                <a:solidFill>
                  <a:srgbClr val="131416"/>
                </a:solidFill>
                <a:latin typeface="DM Sans"/>
              </a:rPr>
              <a:t>[A caution or tip.]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9432" y="1297686"/>
            <a:ext cx="6833311" cy="5057394"/>
          </a:xfrm>
          <a:prstGeom prst="rect">
            <a:avLst/>
          </a:prstGeom>
          <a:solidFill>
            <a:srgbClr val="FFFFFF"/>
          </a:solidFill>
          <a:ln w="9525">
            <a:solidFill>
              <a:srgbClr val="D6D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297686"/>
            <a:ext cx="6833311" cy="50573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60" b="0" i="1">
                <a:solidFill>
                  <a:srgbClr val="5F646D"/>
                </a:solidFill>
                <a:latin typeface="DM Sans"/>
              </a:rPr>
              <a:t>[Add an example image]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731520" y="0"/>
            <a:ext cx="5175504" cy="685800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1" i="0" spc="173">
                <a:solidFill>
                  <a:srgbClr val="15219D"/>
                </a:solidFill>
                <a:latin typeface="DM Sans"/>
              </a:rPr>
              <a:t>[WEEK N] · [TOPIC]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536192"/>
            <a:ext cx="3255264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b="1" i="0" spc="-117">
                <a:solidFill>
                  <a:srgbClr val="0D145F"/>
                </a:solidFill>
                <a:latin typeface="Inter"/>
              </a:rPr>
              <a:t>Deliverables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754880"/>
            <a:ext cx="1280160" cy="128016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pboard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01261"/>
            <a:ext cx="1280160" cy="1280160"/>
          </a:xfrm>
          <a:prstGeom prst="rect">
            <a:avLst/>
          </a:prstGeom>
        </p:spPr>
      </p:pic>
      <p:pic>
        <p:nvPicPr>
          <p:cNvPr id="7" name="Picture 6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1602486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59552" y="155448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[Deliverable]</a:t>
            </a:r>
          </a:p>
        </p:txBody>
      </p:sp>
      <p:pic>
        <p:nvPicPr>
          <p:cNvPr id="9" name="Picture 8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772156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9552" y="2724150"/>
            <a:ext cx="596463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89" b="0" i="0">
                <a:solidFill>
                  <a:srgbClr val="131416"/>
                </a:solidFill>
                <a:latin typeface="DM Sans"/>
              </a:rPr>
              <a:t>[Deliverable]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[Program] · [Series] · [Week] · [Topic]</dc:title>
  <dc:subject/>
  <dc:creator>Frontier Commons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