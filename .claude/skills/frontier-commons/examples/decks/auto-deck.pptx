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D145F"/>
            </a:solidFill>
          </c:spPr>
          <c:cat>
            <c:strRef>
              <c:f>Sheet1!$A$2:$A$6</c:f>
              <c:strCache>
                <c:ptCount val="5"/>
                <c:pt idx="0">
                  <c:v>Asia</c:v>
                </c:pt>
                <c:pt idx="1">
                  <c:v>Europe</c:v>
                </c:pt>
                <c:pt idx="2">
                  <c:v>Africa</c:v>
                </c:pt>
                <c:pt idx="3">
                  <c:v>Latin America</c:v>
                </c:pt>
                <c:pt idx="4">
                  <c:v>Middle East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34.0</c:v>
                </c:pt>
                <c:pt idx="1">
                  <c:v>22.0</c:v>
                </c:pt>
                <c:pt idx="2">
                  <c:v>18.0</c:v>
                </c:pt>
                <c:pt idx="3">
                  <c:v>15.0</c:v>
                </c:pt>
                <c:pt idx="4">
                  <c:v>11.0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 b="1">
                  <a:solidFill>
                    <a:srgbClr val="13141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DB1B8"/>
            </a:solidFill>
          </a:ln>
        </c:spPr>
        <c:txPr>
          <a:bodyPr/>
          <a:lstStyle/>
          <a:p>
            <a:pPr>
              <a:defRPr>
                <a:solidFill>
                  <a:srgbClr val="13141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6D8DB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5F646D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31416"/>
          </a:solidFill>
          <a:latin typeface="DM Sans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589520" y="548640"/>
            <a:ext cx="5120640" cy="5120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0" y="3566160"/>
            <a:ext cx="2286000" cy="2286000"/>
          </a:xfrm>
          <a:prstGeom prst="roundRect">
            <a:avLst>
              <a:gd name="adj" fmla="val 18000"/>
            </a:avLst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sers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4069080"/>
            <a:ext cx="1280160" cy="128016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9509760" y="5074920"/>
            <a:ext cx="822960" cy="82296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03504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400" b="1" i="0" spc="-108">
                <a:solidFill>
                  <a:srgbClr val="0D145F"/>
                </a:solidFill>
                <a:latin typeface="Inter"/>
              </a:rPr>
              <a:t>Frontier</a:t>
            </a:r>
          </a:p>
          <a:p>
            <a:pPr algn="l">
              <a:lnSpc>
                <a:spcPct val="102000"/>
              </a:lnSpc>
            </a:pPr>
            <a:r>
              <a:rPr sz="5400" b="1" i="0" spc="-108">
                <a:solidFill>
                  <a:srgbClr val="0D145F"/>
                </a:solidFill>
                <a:latin typeface="Inter"/>
              </a:rPr>
              <a:t>Commons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66310"/>
            <a:ext cx="5852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Ministry Partners Gathering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32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October 2026</a:t>
            </a:r>
          </a:p>
        </p:txBody>
      </p:sp>
      <p:pic>
        <p:nvPicPr>
          <p:cNvPr id="9" name="Picture 8" descr="wordmark-horizontal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080760"/>
            <a:ext cx="211351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 spc="-38">
                <a:solidFill>
                  <a:srgbClr val="0D145F"/>
                </a:solidFill>
                <a:latin typeface="Inter"/>
              </a:rPr>
              <a:t>Today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6550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" y="1707134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9072" y="1606550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Why international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30094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630678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530094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What we've learned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53638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3554222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3453638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How we can work together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77182"/>
            <a:ext cx="10728655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9536" y="4477766"/>
            <a:ext cx="576072" cy="576072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9072" y="4377182"/>
            <a:ext cx="76809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Next steps</a:t>
            </a:r>
          </a:p>
        </p:txBody>
      </p:sp>
      <p:pic>
        <p:nvPicPr>
          <p:cNvPr id="15" name="Picture 1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0388"/>
            <a:ext cx="12191695" cy="15875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96438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95000"/>
              </a:lnSpc>
            </a:pPr>
            <a:r>
              <a:rPr sz="11000" b="1" i="0" spc="-220">
                <a:solidFill>
                  <a:srgbClr val="F3F4FA"/>
                </a:solidFill>
                <a:latin typeface="Inter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01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7M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international students worldwide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60138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460138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0138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stages in every student's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8756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8756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8756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core principles guide our work</a:t>
            </a:r>
          </a:p>
        </p:txBody>
      </p:sp>
      <p:pic>
        <p:nvPicPr>
          <p:cNvPr id="12" name="Picture 11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Students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577340.0"/>
          <a:ext cx="10728655" cy="4183380.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833872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F646D"/>
                </a:solidFill>
                <a:latin typeface="DM Sans"/>
              </a:rPr>
              <a:t>Source: Illustrative numbers — replace with real data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What students tell us they need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206883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ff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2222449"/>
            <a:ext cx="332842" cy="3328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208711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Friendship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459736"/>
            <a:ext cx="2402738" cy="1163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Someone to share a meal with in the first month.</a:t>
            </a:r>
          </a:p>
        </p:txBody>
      </p:sp>
      <p:sp>
        <p:nvSpPr>
          <p:cNvPr id="7" name="Oval 6"/>
          <p:cNvSpPr/>
          <p:nvPr/>
        </p:nvSpPr>
        <p:spPr>
          <a:xfrm>
            <a:off x="4460138" y="206883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m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757" y="2222449"/>
            <a:ext cx="332842" cy="3328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28818" y="208711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Belonging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8818" y="2459736"/>
            <a:ext cx="2402738" cy="1163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A community that welcomes them as they are.</a:t>
            </a:r>
          </a:p>
        </p:txBody>
      </p:sp>
      <p:sp>
        <p:nvSpPr>
          <p:cNvPr id="11" name="Oval 10"/>
          <p:cNvSpPr/>
          <p:nvPr/>
        </p:nvSpPr>
        <p:spPr>
          <a:xfrm>
            <a:off x="8188756" y="206883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mp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375" y="2222449"/>
            <a:ext cx="332842" cy="3328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57436" y="208711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7436" y="2459736"/>
            <a:ext cx="2402738" cy="1163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Help with language, culture and daily life.</a:t>
            </a:r>
          </a:p>
        </p:txBody>
      </p:sp>
      <p:sp>
        <p:nvSpPr>
          <p:cNvPr id="15" name="Oval 14"/>
          <p:cNvSpPr/>
          <p:nvPr/>
        </p:nvSpPr>
        <p:spPr>
          <a:xfrm>
            <a:off x="2595829" y="394335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ro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9448" y="4096969"/>
            <a:ext cx="332842" cy="3328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464509" y="396163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Faith conversations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64509" y="4597146"/>
            <a:ext cx="2402738" cy="900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Honest space to ask questions about the gospel.</a:t>
            </a:r>
          </a:p>
        </p:txBody>
      </p:sp>
      <p:sp>
        <p:nvSpPr>
          <p:cNvPr id="19" name="Oval 18"/>
          <p:cNvSpPr/>
          <p:nvPr/>
        </p:nvSpPr>
        <p:spPr>
          <a:xfrm>
            <a:off x="6324447" y="3943350"/>
            <a:ext cx="640080" cy="640080"/>
          </a:xfrm>
          <a:prstGeom prst="ellipse">
            <a:avLst/>
          </a:prstGeom>
          <a:solidFill>
            <a:srgbClr val="DCD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riefc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066" y="4096969"/>
            <a:ext cx="332842" cy="33284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93127" y="3961638"/>
            <a:ext cx="24027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 spc="-18">
                <a:solidFill>
                  <a:srgbClr val="0D145F"/>
                </a:solidFill>
                <a:latin typeface="DM Sans"/>
              </a:rPr>
              <a:t>Career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127" y="4334256"/>
            <a:ext cx="2402738" cy="1163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Mentors for internships and work after graduation.</a:t>
            </a:r>
          </a:p>
        </p:txBody>
      </p:sp>
      <p:pic>
        <p:nvPicPr>
          <p:cNvPr id="23" name="Picture 22" descr="logo-icon-deep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student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4385" y="2609850"/>
            <a:ext cx="8582924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92905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ugg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15" y="2414930"/>
            <a:ext cx="427940" cy="42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1. Pre-Arrival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19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Anticipation, fear, hope</a:t>
            </a:r>
          </a:p>
        </p:txBody>
      </p:sp>
      <p:sp>
        <p:nvSpPr>
          <p:cNvPr id="8" name="Oval 7"/>
          <p:cNvSpPr/>
          <p:nvPr/>
        </p:nvSpPr>
        <p:spPr>
          <a:xfrm>
            <a:off x="3538636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lane-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146" y="2414930"/>
            <a:ext cx="427940" cy="4279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91550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2. Arrival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1550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Overwhelmed, lonely, culture shock</a:t>
            </a:r>
          </a:p>
        </p:txBody>
      </p:sp>
      <p:sp>
        <p:nvSpPr>
          <p:cNvPr id="12" name="Oval 11"/>
          <p:cNvSpPr/>
          <p:nvPr/>
        </p:nvSpPr>
        <p:spPr>
          <a:xfrm>
            <a:off x="5684367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877" y="2414930"/>
            <a:ext cx="427940" cy="4279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37281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3. Integration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7281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Curious, conflicted, settled</a:t>
            </a:r>
          </a:p>
        </p:txBody>
      </p:sp>
      <p:sp>
        <p:nvSpPr>
          <p:cNvPr id="16" name="Oval 15"/>
          <p:cNvSpPr/>
          <p:nvPr/>
        </p:nvSpPr>
        <p:spPr>
          <a:xfrm>
            <a:off x="7830098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608" y="2414930"/>
            <a:ext cx="427940" cy="4279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83012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4.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3012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Empowered, confident, purposeful</a:t>
            </a:r>
          </a:p>
        </p:txBody>
      </p:sp>
      <p:sp>
        <p:nvSpPr>
          <p:cNvPr id="20" name="Oval 19"/>
          <p:cNvSpPr/>
          <p:nvPr/>
        </p:nvSpPr>
        <p:spPr>
          <a:xfrm>
            <a:off x="9975829" y="221742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lane-takeo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339" y="2414930"/>
            <a:ext cx="427940" cy="4279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28743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5. Re-Entry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8743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Reverse culture shock, determination</a:t>
            </a:r>
          </a:p>
        </p:txBody>
      </p:sp>
      <p:pic>
        <p:nvPicPr>
          <p:cNvPr id="24" name="Picture 23" descr="logo-icon-deep-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Core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906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academic</a:t>
            </a:r>
          </a:p>
        </p:txBody>
      </p:sp>
      <p:pic>
        <p:nvPicPr>
          <p:cNvPr id="7" name="Picture 6" descr="door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686" y="3497580"/>
            <a:ext cx="685800" cy="685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5840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No previous experience, training, or interest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693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8013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Collaborative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6079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8013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competitive</a:t>
            </a:r>
          </a:p>
        </p:txBody>
      </p:sp>
      <p:pic>
        <p:nvPicPr>
          <p:cNvPr id="13" name="Picture 12" descr="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859" y="3497580"/>
            <a:ext cx="68580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68013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Building bridges and shared spaces between ministries.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5867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Innovative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8253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0187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traditional</a:t>
            </a:r>
          </a:p>
        </p:txBody>
      </p:sp>
      <p:pic>
        <p:nvPicPr>
          <p:cNvPr id="19" name="Picture 18" descr="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033" y="3497580"/>
            <a:ext cx="685800" cy="685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30187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Fresh approaches through the innovation pipeline.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18041" y="1577340"/>
            <a:ext cx="2442133" cy="436626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2361" y="198882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Global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0427" y="249174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2361" y="267462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Western-centric</a:t>
            </a:r>
          </a:p>
        </p:txBody>
      </p:sp>
      <p:pic>
        <p:nvPicPr>
          <p:cNvPr id="25" name="Picture 24" descr="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6207" y="3497580"/>
            <a:ext cx="685800" cy="685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92361" y="4457700"/>
            <a:ext cx="1893493" cy="1257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Grounded in the realities of 7M students worldwide.</a:t>
            </a:r>
          </a:p>
        </p:txBody>
      </p:sp>
      <p:pic>
        <p:nvPicPr>
          <p:cNvPr id="27" name="Picture 26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What partners can expect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48740"/>
            <a:ext cx="822960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77340"/>
            <a:ext cx="5090007" cy="4366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Shared research on the needs of international students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Introductions to ministries already serving your campus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Coordinated calendars so events don't compete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Training that doesn't assume previous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0167" y="1577340"/>
            <a:ext cx="5090007" cy="4366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A place to test new ideas with other ministries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Regular gatherings to learn from each other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Simple tools to follow up with students</a:t>
            </a:r>
          </a:p>
          <a:p>
            <a:pPr marL="251460" indent="-25146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800" b="0" i="0" spc="-18">
                <a:solidFill>
                  <a:srgbClr val="131416"/>
                </a:solidFill>
                <a:latin typeface="DM Sans"/>
              </a:rPr>
              <a:t>Support for students returning home</a:t>
            </a:r>
          </a:p>
        </p:txBody>
      </p:sp>
      <p:pic>
        <p:nvPicPr>
          <p:cNvPr id="6" name="Picture 5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How we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0167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What we add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9174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Shared data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Coordination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Innovation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5927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What stays yours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5927" y="249174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Your ministry's identity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Your relationships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Your programs</a:t>
            </a:r>
          </a:p>
        </p:txBody>
      </p:sp>
      <p:pic>
        <p:nvPicPr>
          <p:cNvPr id="9" name="Picture 8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Next twelve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72601" y="2929890"/>
            <a:ext cx="8046491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61121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31" y="2734970"/>
            <a:ext cx="427940" cy="4279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5819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NOV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19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1. Partner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19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Listen before we build.</a:t>
            </a:r>
          </a:p>
        </p:txBody>
      </p:sp>
      <p:sp>
        <p:nvSpPr>
          <p:cNvPr id="9" name="Oval 8"/>
          <p:cNvSpPr/>
          <p:nvPr/>
        </p:nvSpPr>
        <p:spPr>
          <a:xfrm>
            <a:off x="4343285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795" y="2734970"/>
            <a:ext cx="427940" cy="4279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7983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JAN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2. Shared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7983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One view of campus events.</a:t>
            </a:r>
          </a:p>
        </p:txBody>
      </p:sp>
      <p:sp>
        <p:nvSpPr>
          <p:cNvPr id="14" name="Oval 13"/>
          <p:cNvSpPr/>
          <p:nvPr/>
        </p:nvSpPr>
        <p:spPr>
          <a:xfrm>
            <a:off x="7025449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users-ro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2959" y="2734970"/>
            <a:ext cx="427940" cy="4279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0147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MAR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3. Summit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0147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Gather in person.</a:t>
            </a:r>
          </a:p>
        </p:txBody>
      </p:sp>
      <p:sp>
        <p:nvSpPr>
          <p:cNvPr id="19" name="Oval 18"/>
          <p:cNvSpPr/>
          <p:nvPr/>
        </p:nvSpPr>
        <p:spPr>
          <a:xfrm>
            <a:off x="9707613" y="2537460"/>
            <a:ext cx="822960" cy="82296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lane-takeo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5123" y="2734970"/>
            <a:ext cx="427940" cy="4279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892311" y="2080260"/>
            <a:ext cx="245356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 spc="72">
                <a:solidFill>
                  <a:srgbClr val="1F2FE0"/>
                </a:solidFill>
                <a:latin typeface="DM Sans"/>
              </a:rPr>
              <a:t>JUN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311" y="3634740"/>
            <a:ext cx="245356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4. Re-entry toolkit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2311" y="4274820"/>
            <a:ext cx="2453563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Support students going home.</a:t>
            </a:r>
          </a:p>
        </p:txBody>
      </p:sp>
      <p:pic>
        <p:nvPicPr>
          <p:cNvPr id="24" name="Picture 23" descr="logo-icon-deep-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68941933000596379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5120640" cy="53949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92240" y="1188720"/>
            <a:ext cx="838200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737360"/>
            <a:ext cx="49679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34">
                <a:solidFill>
                  <a:srgbClr val="0D145F"/>
                </a:solidFill>
                <a:latin typeface="Inter"/>
              </a:rPr>
              <a:t>Every friendship starts with a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3007360"/>
            <a:ext cx="49679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Use this space for a short story. Replace the placeholder name with a real, consented testimony.</a:t>
            </a:r>
          </a:p>
        </p:txBody>
      </p:sp>
      <p:pic>
        <p:nvPicPr>
          <p:cNvPr id="6" name="Picture 5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 spc="-96">
                <a:solidFill>
                  <a:srgbClr val="F3F4FA"/>
                </a:solidFill>
                <a:latin typeface="Inter"/>
              </a:rPr>
              <a:t>Empowering the next generation to share the gospel </a:t>
            </a:r>
            <a:r>
              <a:rPr sz="4800" b="1" i="0" spc="-96">
                <a:solidFill>
                  <a:srgbClr val="BCB4EE"/>
                </a:solidFill>
                <a:latin typeface="Inter"/>
              </a:rPr>
              <a:t>confidently</a:t>
            </a:r>
            <a:r>
              <a:rPr sz="4800" b="1" i="0" spc="-96">
                <a:solidFill>
                  <a:srgbClr val="F3F4FA"/>
                </a:solidFill>
                <a:latin typeface="Inter"/>
              </a:rPr>
              <a:t>.</a:t>
            </a:r>
          </a:p>
        </p:txBody>
      </p:sp>
      <p:pic>
        <p:nvPicPr>
          <p:cNvPr id="3" name="Picture 2" descr="logo-icon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3F4FA"/>
                </a:solidFill>
                <a:latin typeface="DM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4206240"/>
            <a:ext cx="3840480" cy="3840480"/>
          </a:xfrm>
          <a:prstGeom prst="ellipse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-822960"/>
            <a:ext cx="2560320" cy="2560320"/>
          </a:xfrm>
          <a:prstGeom prst="ellipse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371600"/>
            <a:ext cx="640080" cy="640080"/>
          </a:xfrm>
          <a:prstGeom prst="ellipse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 i="0" spc="-120">
                <a:solidFill>
                  <a:srgbClr val="0D145F"/>
                </a:solidFill>
                <a:latin typeface="Inter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 i="0" spc="-52">
                <a:solidFill>
                  <a:srgbClr val="131416"/>
                </a:solidFill>
                <a:latin typeface="Inter"/>
              </a:rPr>
              <a:t>Let's build this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7286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131416"/>
                </a:solidFill>
                <a:latin typeface="DM Sans"/>
              </a:rPr>
              <a:t>[your.email@example.org]</a:t>
            </a:r>
          </a:p>
        </p:txBody>
      </p:sp>
      <p:pic>
        <p:nvPicPr>
          <p:cNvPr id="8" name="Picture 7" descr="wordmark-horizontal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741" y="5897880"/>
            <a:ext cx="2536213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 Commons — Auto Layout Demo</dc:title>
  <dc:subject/>
  <dc:creator>Frontier Commons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