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0D145F"/>
            </a:solidFill>
          </c:spPr>
          <c:cat>
            <c:strRef>
              <c:f>Sheet1!$A$2:$A$6</c:f>
              <c:strCache>
                <c:ptCount val="5"/>
                <c:pt idx="0">
                  <c:v>Asia</c:v>
                </c:pt>
                <c:pt idx="1">
                  <c:v>Europe</c:v>
                </c:pt>
                <c:pt idx="2">
                  <c:v>Africa</c:v>
                </c:pt>
                <c:pt idx="3">
                  <c:v>Latin America</c:v>
                </c:pt>
                <c:pt idx="4">
                  <c:v>Middle East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34.0</c:v>
                </c:pt>
                <c:pt idx="1">
                  <c:v>22.0</c:v>
                </c:pt>
                <c:pt idx="2">
                  <c:v>18.0</c:v>
                </c:pt>
                <c:pt idx="3">
                  <c:v>15.0</c:v>
                </c:pt>
                <c:pt idx="4">
                  <c:v>11.0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200" b="1">
                  <a:solidFill>
                    <a:srgbClr val="131416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ADB1B8"/>
            </a:solidFill>
          </a:ln>
        </c:spPr>
        <c:txPr>
          <a:bodyPr/>
          <a:lstStyle/>
          <a:p>
            <a:pPr>
              <a:defRPr>
                <a:solidFill>
                  <a:srgbClr val="131416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D6D8DB"/>
              </a:solidFill>
            </a:ln>
          </c:spPr>
        </c:majorGridlines>
        <c:numFmt formatCode="0&quot;%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>
                <a:solidFill>
                  <a:srgbClr val="5F646D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31416"/>
          </a:solidFill>
          <a:latin typeface="DM Sans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2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1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4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arallelogram 1"/>
          <p:cNvSpPr/>
          <p:nvPr/>
        </p:nvSpPr>
        <p:spPr>
          <a:xfrm>
            <a:off x="-1280160" y="-182880"/>
            <a:ext cx="4023360" cy="7406640"/>
          </a:xfrm>
          <a:prstGeom prst="parallelogram">
            <a:avLst>
              <a:gd name="adj" fmla="val 28000"/>
            </a:avLst>
          </a:prstGeom>
          <a:solidFill>
            <a:srgbClr val="15219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ots-periwink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56032" y="2029968"/>
            <a:ext cx="2286000" cy="48280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94944" y="1234440"/>
            <a:ext cx="7315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30" b="1" i="0" spc="245">
                <a:solidFill>
                  <a:srgbClr val="FFFFFF"/>
                </a:solidFill>
                <a:latin typeface="DM Sans"/>
              </a:rPr>
              <a:t>FRONTIER COMMONS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1783080"/>
            <a:ext cx="10515600" cy="268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8000"/>
              </a:lnSpc>
            </a:pPr>
            <a:r>
              <a:rPr sz="9000" b="1" i="0" spc="-405">
                <a:solidFill>
                  <a:srgbClr val="FFFFFF"/>
                </a:solidFill>
                <a:latin typeface="Inter"/>
              </a:rPr>
              <a:t>FRONTIER</a:t>
            </a:r>
          </a:p>
          <a:p>
            <a:pPr algn="l">
              <a:lnSpc>
                <a:spcPct val="88000"/>
              </a:lnSpc>
            </a:pPr>
            <a:r>
              <a:rPr sz="9000" b="1" i="0" spc="-405">
                <a:solidFill>
                  <a:srgbClr val="FFFFFF"/>
                </a:solidFill>
                <a:latin typeface="Inter"/>
              </a:rPr>
              <a:t>COMMONS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4480560"/>
            <a:ext cx="9144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520" b="0" i="0">
                <a:solidFill>
                  <a:srgbClr val="BCB4EE"/>
                </a:solidFill>
                <a:latin typeface="Inter"/>
              </a:rPr>
              <a:t>Ministry Partners Gathering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59893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60" b="0" i="0">
                <a:solidFill>
                  <a:srgbClr val="FFFFFF"/>
                </a:solidFill>
                <a:latin typeface="DM Sans"/>
              </a:rPr>
              <a:t>October 2026</a:t>
            </a:r>
          </a:p>
        </p:txBody>
      </p:sp>
      <p:pic>
        <p:nvPicPr>
          <p:cNvPr id="8" name="Picture 7" descr="wordmark-horizontal-mi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8415" y="5961888"/>
            <a:ext cx="2254412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dotband-gr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5720" y="0"/>
            <a:ext cx="14447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58952" y="612648"/>
            <a:ext cx="10673791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90" b="1" i="0" spc="-98">
                <a:solidFill>
                  <a:srgbClr val="0D145F"/>
                </a:solidFill>
                <a:latin typeface="Inter"/>
              </a:rPr>
              <a:t>Today</a:t>
            </a:r>
          </a:p>
        </p:txBody>
      </p:sp>
      <p:sp>
        <p:nvSpPr>
          <p:cNvPr id="4" name="Rectangle 3"/>
          <p:cNvSpPr/>
          <p:nvPr/>
        </p:nvSpPr>
        <p:spPr>
          <a:xfrm>
            <a:off x="758952" y="1501521"/>
            <a:ext cx="9875520" cy="12700"/>
          </a:xfrm>
          <a:prstGeom prst="rect">
            <a:avLst/>
          </a:prstGeom>
          <a:solidFill>
            <a:srgbClr val="D6D8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8952" y="1750187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30" b="1" i="0" spc="-46">
                <a:solidFill>
                  <a:srgbClr val="15219D"/>
                </a:solidFill>
                <a:latin typeface="Inter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7592" y="1720977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70" b="0" i="0" spc="-52">
                <a:solidFill>
                  <a:srgbClr val="0D145F"/>
                </a:solidFill>
                <a:latin typeface="Inter"/>
              </a:rPr>
              <a:t>Why international students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758952" y="2382393"/>
            <a:ext cx="9875520" cy="12700"/>
          </a:xfrm>
          <a:prstGeom prst="rect">
            <a:avLst/>
          </a:prstGeom>
          <a:solidFill>
            <a:srgbClr val="D6D8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" y="2631059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30" b="1" i="0" spc="-46">
                <a:solidFill>
                  <a:srgbClr val="15219D"/>
                </a:solidFill>
                <a:latin typeface="Inter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07592" y="2601849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70" b="0" i="0" spc="-52">
                <a:solidFill>
                  <a:srgbClr val="0D145F"/>
                </a:solidFill>
                <a:latin typeface="Inter"/>
              </a:rPr>
              <a:t>What we've learned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8952" y="3263265"/>
            <a:ext cx="9875520" cy="12700"/>
          </a:xfrm>
          <a:prstGeom prst="rect">
            <a:avLst/>
          </a:prstGeom>
          <a:solidFill>
            <a:srgbClr val="D6D8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3511931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30" b="1" i="0" spc="-46">
                <a:solidFill>
                  <a:srgbClr val="15219D"/>
                </a:solidFill>
                <a:latin typeface="Inter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07592" y="3482721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70" b="0" i="0" spc="-52">
                <a:solidFill>
                  <a:srgbClr val="0D145F"/>
                </a:solidFill>
                <a:latin typeface="Inter"/>
              </a:rPr>
              <a:t>How we can work together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8952" y="4144137"/>
            <a:ext cx="9875520" cy="12700"/>
          </a:xfrm>
          <a:prstGeom prst="rect">
            <a:avLst/>
          </a:prstGeom>
          <a:solidFill>
            <a:srgbClr val="D6D8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" y="4392803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30" b="1" i="0" spc="-46">
                <a:solidFill>
                  <a:srgbClr val="15219D"/>
                </a:solidFill>
                <a:latin typeface="Inter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07592" y="4363593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70" b="0" i="0" spc="-52">
                <a:solidFill>
                  <a:srgbClr val="0D145F"/>
                </a:solidFill>
                <a:latin typeface="Inter"/>
              </a:rPr>
              <a:t>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F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413635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60" b="1" i="0" spc="202">
                <a:solidFill>
                  <a:srgbClr val="15219D"/>
                </a:solidFill>
                <a:latin typeface="DM Sans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962275"/>
            <a:ext cx="6309360" cy="1299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6750" b="1" i="0" spc="-304">
                <a:solidFill>
                  <a:srgbClr val="0D145F"/>
                </a:solidFill>
                <a:latin typeface="Inter"/>
              </a:rPr>
              <a:t>Why </a:t>
            </a:r>
            <a:r>
              <a:rPr sz="6750" b="1" i="0" spc="-304">
                <a:solidFill>
                  <a:srgbClr val="15219D"/>
                </a:solidFill>
                <a:latin typeface="Inter"/>
              </a:rPr>
              <a:t>Now</a:t>
            </a:r>
          </a:p>
        </p:txBody>
      </p:sp>
      <p:sp>
        <p:nvSpPr>
          <p:cNvPr id="4" name="Oval 3"/>
          <p:cNvSpPr/>
          <p:nvPr/>
        </p:nvSpPr>
        <p:spPr>
          <a:xfrm>
            <a:off x="7132320" y="1188720"/>
            <a:ext cx="3374136" cy="3374136"/>
          </a:xfrm>
          <a:prstGeom prst="ellipse">
            <a:avLst/>
          </a:prstGeom>
          <a:solidFill>
            <a:srgbClr val="9C9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ots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48088" y="1271016"/>
            <a:ext cx="1234440" cy="12344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366760" y="2587752"/>
            <a:ext cx="2386584" cy="2386584"/>
          </a:xfrm>
          <a:prstGeom prst="roundRect">
            <a:avLst>
              <a:gd name="adj" fmla="val 20000"/>
            </a:avLst>
          </a:prstGeom>
          <a:solidFill>
            <a:srgbClr val="0D14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ircle-he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5944" y="2916936"/>
            <a:ext cx="1728216" cy="1728216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7626096" y="4069080"/>
            <a:ext cx="658368" cy="658368"/>
          </a:xfrm>
          <a:prstGeom prst="ellipse">
            <a:avLst/>
          </a:prstGeom>
          <a:solidFill>
            <a:srgbClr val="FABC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dotband-gr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5720" y="0"/>
            <a:ext cx="14447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58952" y="612648"/>
            <a:ext cx="10673791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90" b="1" i="0" spc="-98">
                <a:solidFill>
                  <a:srgbClr val="0D145F"/>
                </a:solidFill>
                <a:latin typeface="Inter"/>
              </a:rPr>
              <a:t>The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0121"/>
            <a:ext cx="3271418" cy="12801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90000"/>
              </a:lnSpc>
            </a:pPr>
            <a:r>
              <a:rPr sz="6480" b="1" i="0" spc="-194">
                <a:solidFill>
                  <a:srgbClr val="0D145F"/>
                </a:solidFill>
                <a:latin typeface="Inter"/>
              </a:rPr>
              <a:t>7M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3193161"/>
            <a:ext cx="822960" cy="50800"/>
          </a:xfrm>
          <a:prstGeom prst="rect">
            <a:avLst/>
          </a:prstGeom>
          <a:solidFill>
            <a:srgbClr val="FABC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3421761"/>
            <a:ext cx="327141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 spc="-18">
                <a:solidFill>
                  <a:srgbClr val="131416"/>
                </a:solidFill>
                <a:latin typeface="Inter"/>
              </a:rPr>
              <a:t>international students worldwide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60138" y="1730121"/>
            <a:ext cx="3271418" cy="12801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90000"/>
              </a:lnSpc>
            </a:pPr>
            <a:r>
              <a:rPr sz="6480" b="1" i="0" spc="-194">
                <a:solidFill>
                  <a:srgbClr val="0D145F"/>
                </a:solidFill>
                <a:latin typeface="Inter"/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4460138" y="3193161"/>
            <a:ext cx="822960" cy="50800"/>
          </a:xfrm>
          <a:prstGeom prst="rect">
            <a:avLst/>
          </a:prstGeom>
          <a:solidFill>
            <a:srgbClr val="FABC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60138" y="3421761"/>
            <a:ext cx="327141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 spc="-18">
                <a:solidFill>
                  <a:srgbClr val="131416"/>
                </a:solidFill>
                <a:latin typeface="Inter"/>
              </a:rPr>
              <a:t>stages in every student's journey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8756" y="1730121"/>
            <a:ext cx="3271418" cy="12801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90000"/>
              </a:lnSpc>
            </a:pPr>
            <a:r>
              <a:rPr sz="6480" b="1" i="0" spc="-194">
                <a:solidFill>
                  <a:srgbClr val="0D145F"/>
                </a:solidFill>
                <a:latin typeface="Inter"/>
              </a:rPr>
              <a:t>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88756" y="3193161"/>
            <a:ext cx="822960" cy="50800"/>
          </a:xfrm>
          <a:prstGeom prst="rect">
            <a:avLst/>
          </a:prstGeom>
          <a:solidFill>
            <a:srgbClr val="FABC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8756" y="3421761"/>
            <a:ext cx="327141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 spc="-18">
                <a:solidFill>
                  <a:srgbClr val="131416"/>
                </a:solidFill>
                <a:latin typeface="Inter"/>
              </a:rPr>
              <a:t>core principles guide our work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dotband-gr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5720" y="0"/>
            <a:ext cx="14447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58952" y="612648"/>
            <a:ext cx="10673791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90" b="1" i="0" spc="-98">
                <a:solidFill>
                  <a:srgbClr val="0D145F"/>
                </a:solidFill>
                <a:latin typeface="Inter"/>
              </a:rPr>
              <a:t>Students by region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731520" y="1364361.0"/>
          <a:ext cx="10728655" cy="4396359.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5833872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90" b="0" i="0">
                <a:solidFill>
                  <a:srgbClr val="5F646D"/>
                </a:solidFill>
                <a:latin typeface="DM Sans"/>
              </a:rPr>
              <a:t>Source: Illustrative numbers — replace with real data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dotband-gr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5720" y="0"/>
            <a:ext cx="14447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58952" y="612648"/>
            <a:ext cx="10673791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90" b="1" i="0" spc="-98">
                <a:solidFill>
                  <a:srgbClr val="0D145F"/>
                </a:solidFill>
                <a:latin typeface="Inter"/>
              </a:rPr>
              <a:t>What students tell us they need</a:t>
            </a:r>
          </a:p>
        </p:txBody>
      </p:sp>
      <p:sp>
        <p:nvSpPr>
          <p:cNvPr id="4" name="Oval 3"/>
          <p:cNvSpPr/>
          <p:nvPr/>
        </p:nvSpPr>
        <p:spPr>
          <a:xfrm>
            <a:off x="731520" y="1962340"/>
            <a:ext cx="640080" cy="640080"/>
          </a:xfrm>
          <a:prstGeom prst="ellipse">
            <a:avLst/>
          </a:prstGeom>
          <a:solidFill>
            <a:srgbClr val="DCD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offe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139" y="2115959"/>
            <a:ext cx="332842" cy="33284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600200" y="1980628"/>
            <a:ext cx="24027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20" b="1" i="0" spc="-16">
                <a:solidFill>
                  <a:srgbClr val="0D145F"/>
                </a:solidFill>
                <a:latin typeface="DM Sans"/>
              </a:rPr>
              <a:t>Friendship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2353246"/>
            <a:ext cx="2402738" cy="1163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60" b="0" i="0">
                <a:solidFill>
                  <a:srgbClr val="131416"/>
                </a:solidFill>
                <a:latin typeface="DM Sans"/>
              </a:rPr>
              <a:t>Someone to share a meal with in the first month.</a:t>
            </a:r>
          </a:p>
        </p:txBody>
      </p:sp>
      <p:sp>
        <p:nvSpPr>
          <p:cNvPr id="8" name="Oval 7"/>
          <p:cNvSpPr/>
          <p:nvPr/>
        </p:nvSpPr>
        <p:spPr>
          <a:xfrm>
            <a:off x="4460138" y="1962340"/>
            <a:ext cx="640080" cy="640080"/>
          </a:xfrm>
          <a:prstGeom prst="ellipse">
            <a:avLst/>
          </a:prstGeom>
          <a:solidFill>
            <a:srgbClr val="DCD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mi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3757" y="2115959"/>
            <a:ext cx="332842" cy="33284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28818" y="1980628"/>
            <a:ext cx="24027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20" b="1" i="0" spc="-16">
                <a:solidFill>
                  <a:srgbClr val="0D145F"/>
                </a:solidFill>
                <a:latin typeface="DM Sans"/>
              </a:rPr>
              <a:t>Belonging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28818" y="2353246"/>
            <a:ext cx="2402738" cy="1163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60" b="0" i="0">
                <a:solidFill>
                  <a:srgbClr val="131416"/>
                </a:solidFill>
                <a:latin typeface="DM Sans"/>
              </a:rPr>
              <a:t>A community that welcomes them as they are.</a:t>
            </a:r>
          </a:p>
        </p:txBody>
      </p:sp>
      <p:sp>
        <p:nvSpPr>
          <p:cNvPr id="12" name="Oval 11"/>
          <p:cNvSpPr/>
          <p:nvPr/>
        </p:nvSpPr>
        <p:spPr>
          <a:xfrm>
            <a:off x="8188756" y="1962340"/>
            <a:ext cx="640080" cy="640080"/>
          </a:xfrm>
          <a:prstGeom prst="ellipse">
            <a:avLst/>
          </a:prstGeom>
          <a:solidFill>
            <a:srgbClr val="DCD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ompas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42375" y="2115959"/>
            <a:ext cx="332842" cy="33284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057436" y="1980628"/>
            <a:ext cx="24027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20" b="1" i="0" spc="-16">
                <a:solidFill>
                  <a:srgbClr val="0D145F"/>
                </a:solidFill>
                <a:latin typeface="DM Sans"/>
              </a:rPr>
              <a:t>Guidance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57436" y="2353246"/>
            <a:ext cx="2402738" cy="1163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60" b="0" i="0">
                <a:solidFill>
                  <a:srgbClr val="131416"/>
                </a:solidFill>
                <a:latin typeface="DM Sans"/>
              </a:rPr>
              <a:t>Help with language, culture and daily life.</a:t>
            </a:r>
          </a:p>
        </p:txBody>
      </p:sp>
      <p:sp>
        <p:nvSpPr>
          <p:cNvPr id="16" name="Oval 15"/>
          <p:cNvSpPr/>
          <p:nvPr/>
        </p:nvSpPr>
        <p:spPr>
          <a:xfrm>
            <a:off x="2595829" y="3836860"/>
            <a:ext cx="640080" cy="640080"/>
          </a:xfrm>
          <a:prstGeom prst="ellipse">
            <a:avLst/>
          </a:prstGeom>
          <a:solidFill>
            <a:srgbClr val="DCD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cros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49448" y="3990479"/>
            <a:ext cx="332842" cy="33284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464509" y="3855148"/>
            <a:ext cx="24027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20" b="1" i="0" spc="-16">
                <a:solidFill>
                  <a:srgbClr val="0D145F"/>
                </a:solidFill>
                <a:latin typeface="DM Sans"/>
              </a:rPr>
              <a:t>Faith conversations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64509" y="4490656"/>
            <a:ext cx="2402738" cy="9006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60" b="0" i="0">
                <a:solidFill>
                  <a:srgbClr val="131416"/>
                </a:solidFill>
                <a:latin typeface="DM Sans"/>
              </a:rPr>
              <a:t>Honest space to ask questions about the gospel.</a:t>
            </a:r>
          </a:p>
        </p:txBody>
      </p:sp>
      <p:sp>
        <p:nvSpPr>
          <p:cNvPr id="20" name="Oval 19"/>
          <p:cNvSpPr/>
          <p:nvPr/>
        </p:nvSpPr>
        <p:spPr>
          <a:xfrm>
            <a:off x="6324447" y="3836860"/>
            <a:ext cx="640080" cy="640080"/>
          </a:xfrm>
          <a:prstGeom prst="ellipse">
            <a:avLst/>
          </a:prstGeom>
          <a:solidFill>
            <a:srgbClr val="DCD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briefcas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78066" y="3990479"/>
            <a:ext cx="332842" cy="332842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193127" y="3855148"/>
            <a:ext cx="24027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20" b="1" i="0" spc="-16">
                <a:solidFill>
                  <a:srgbClr val="0D145F"/>
                </a:solidFill>
                <a:latin typeface="DM Sans"/>
              </a:rPr>
              <a:t>Career support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93127" y="4227766"/>
            <a:ext cx="2402738" cy="1163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60" b="0" i="0">
                <a:solidFill>
                  <a:srgbClr val="131416"/>
                </a:solidFill>
                <a:latin typeface="DM Sans"/>
              </a:rPr>
              <a:t>Mentors for internships and work after graduation.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dotband-gr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5720" y="0"/>
            <a:ext cx="14447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58952" y="612648"/>
            <a:ext cx="10673791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90" b="1" i="0" spc="-98">
                <a:solidFill>
                  <a:srgbClr val="0D145F"/>
                </a:solidFill>
                <a:latin typeface="Inter"/>
              </a:rPr>
              <a:t>The student journey</a:t>
            </a:r>
          </a:p>
        </p:txBody>
      </p:sp>
      <p:sp>
        <p:nvSpPr>
          <p:cNvPr id="4" name="Rectangle 3"/>
          <p:cNvSpPr/>
          <p:nvPr/>
        </p:nvSpPr>
        <p:spPr>
          <a:xfrm>
            <a:off x="1804385" y="2396871"/>
            <a:ext cx="8582924" cy="38100"/>
          </a:xfrm>
          <a:prstGeom prst="rect">
            <a:avLst/>
          </a:prstGeom>
          <a:solidFill>
            <a:srgbClr val="0D14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392905" y="2004441"/>
            <a:ext cx="822960" cy="822960"/>
          </a:xfrm>
          <a:prstGeom prst="ellipse">
            <a:avLst/>
          </a:prstGeom>
          <a:solidFill>
            <a:srgbClr val="9C9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ugg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0415" y="2201951"/>
            <a:ext cx="427940" cy="4279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5819" y="3101721"/>
            <a:ext cx="191713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30" b="1" i="0">
                <a:solidFill>
                  <a:srgbClr val="0D145F"/>
                </a:solidFill>
                <a:latin typeface="DM Sans"/>
              </a:rPr>
              <a:t>1. Pre-Arrival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19" y="3741801"/>
            <a:ext cx="1917131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60" b="0" i="0">
                <a:solidFill>
                  <a:srgbClr val="131416"/>
                </a:solidFill>
                <a:latin typeface="DM Sans"/>
              </a:rPr>
              <a:t>Anticipation, fear, hope</a:t>
            </a:r>
          </a:p>
        </p:txBody>
      </p:sp>
      <p:sp>
        <p:nvSpPr>
          <p:cNvPr id="9" name="Oval 8"/>
          <p:cNvSpPr/>
          <p:nvPr/>
        </p:nvSpPr>
        <p:spPr>
          <a:xfrm>
            <a:off x="3538636" y="2004441"/>
            <a:ext cx="822960" cy="822960"/>
          </a:xfrm>
          <a:prstGeom prst="ellipse">
            <a:avLst/>
          </a:prstGeom>
          <a:solidFill>
            <a:srgbClr val="9C9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lane-land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36146" y="2201951"/>
            <a:ext cx="427940" cy="4279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991550" y="3101721"/>
            <a:ext cx="191713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30" b="1" i="0">
                <a:solidFill>
                  <a:srgbClr val="0D145F"/>
                </a:solidFill>
                <a:latin typeface="DM Sans"/>
              </a:rPr>
              <a:t>2. Arrival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91550" y="3741801"/>
            <a:ext cx="1917131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60" b="0" i="0">
                <a:solidFill>
                  <a:srgbClr val="131416"/>
                </a:solidFill>
                <a:latin typeface="DM Sans"/>
              </a:rPr>
              <a:t>Overwhelmed, lonely, culture shock</a:t>
            </a:r>
          </a:p>
        </p:txBody>
      </p:sp>
      <p:sp>
        <p:nvSpPr>
          <p:cNvPr id="13" name="Oval 12"/>
          <p:cNvSpPr/>
          <p:nvPr/>
        </p:nvSpPr>
        <p:spPr>
          <a:xfrm>
            <a:off x="5684367" y="2004441"/>
            <a:ext cx="822960" cy="822960"/>
          </a:xfrm>
          <a:prstGeom prst="ellipse">
            <a:avLst/>
          </a:prstGeom>
          <a:solidFill>
            <a:srgbClr val="9C9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puzz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81877" y="2201951"/>
            <a:ext cx="427940" cy="4279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137281" y="3101721"/>
            <a:ext cx="191713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30" b="1" i="0">
                <a:solidFill>
                  <a:srgbClr val="0D145F"/>
                </a:solidFill>
                <a:latin typeface="DM Sans"/>
              </a:rPr>
              <a:t>3. Integration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37281" y="3741801"/>
            <a:ext cx="1917131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60" b="0" i="0">
                <a:solidFill>
                  <a:srgbClr val="131416"/>
                </a:solidFill>
                <a:latin typeface="DM Sans"/>
              </a:rPr>
              <a:t>Curious, conflicted, settled</a:t>
            </a:r>
          </a:p>
        </p:txBody>
      </p:sp>
      <p:sp>
        <p:nvSpPr>
          <p:cNvPr id="17" name="Oval 16"/>
          <p:cNvSpPr/>
          <p:nvPr/>
        </p:nvSpPr>
        <p:spPr>
          <a:xfrm>
            <a:off x="7830098" y="2004441"/>
            <a:ext cx="822960" cy="822960"/>
          </a:xfrm>
          <a:prstGeom prst="ellipse">
            <a:avLst/>
          </a:prstGeom>
          <a:solidFill>
            <a:srgbClr val="9C9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fla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27608" y="2201951"/>
            <a:ext cx="427940" cy="4279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283012" y="3101721"/>
            <a:ext cx="191713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30" b="1" i="0">
                <a:solidFill>
                  <a:srgbClr val="0D145F"/>
                </a:solidFill>
                <a:latin typeface="DM Sans"/>
              </a:rPr>
              <a:t>4. Leadership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83012" y="3741801"/>
            <a:ext cx="1917131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60" b="0" i="0">
                <a:solidFill>
                  <a:srgbClr val="131416"/>
                </a:solidFill>
                <a:latin typeface="DM Sans"/>
              </a:rPr>
              <a:t>Empowered, confident, purposeful</a:t>
            </a:r>
          </a:p>
        </p:txBody>
      </p:sp>
      <p:sp>
        <p:nvSpPr>
          <p:cNvPr id="21" name="Oval 20"/>
          <p:cNvSpPr/>
          <p:nvPr/>
        </p:nvSpPr>
        <p:spPr>
          <a:xfrm>
            <a:off x="9975829" y="2004441"/>
            <a:ext cx="822960" cy="822960"/>
          </a:xfrm>
          <a:prstGeom prst="ellipse">
            <a:avLst/>
          </a:prstGeom>
          <a:solidFill>
            <a:srgbClr val="9C9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plane-takeof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73339" y="2201951"/>
            <a:ext cx="427940" cy="4279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428743" y="3101721"/>
            <a:ext cx="191713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30" b="1" i="0">
                <a:solidFill>
                  <a:srgbClr val="0D145F"/>
                </a:solidFill>
                <a:latin typeface="DM Sans"/>
              </a:rPr>
              <a:t>5. Re-Entry Home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28743" y="3741801"/>
            <a:ext cx="1917131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60" b="0" i="0">
                <a:solidFill>
                  <a:srgbClr val="131416"/>
                </a:solidFill>
                <a:latin typeface="DM Sans"/>
              </a:rPr>
              <a:t>Reverse culture shock, determination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58952" y="612648"/>
            <a:ext cx="10673791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90" b="1" i="0" spc="-98">
                <a:solidFill>
                  <a:srgbClr val="0D145F"/>
                </a:solidFill>
                <a:latin typeface="Inter"/>
              </a:rPr>
              <a:t>Core Principles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64361"/>
            <a:ext cx="2442133" cy="4579239"/>
          </a:xfrm>
          <a:prstGeom prst="roundRect">
            <a:avLst>
              <a:gd name="adj" fmla="val 10000"/>
            </a:avLst>
          </a:prstGeom>
          <a:solidFill>
            <a:srgbClr val="FFEF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775841"/>
            <a:ext cx="189349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980" b="1" i="0">
                <a:solidFill>
                  <a:srgbClr val="131416"/>
                </a:solidFill>
                <a:latin typeface="Inter"/>
              </a:rPr>
              <a:t>Accessible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1083906" y="2278761"/>
            <a:ext cx="1737360" cy="31750"/>
          </a:xfrm>
          <a:prstGeom prst="rect">
            <a:avLst/>
          </a:prstGeom>
          <a:solidFill>
            <a:srgbClr val="FABC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461641"/>
            <a:ext cx="1893493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20" b="0" i="0">
                <a:solidFill>
                  <a:srgbClr val="131416"/>
                </a:solidFill>
                <a:latin typeface="Inter"/>
              </a:rPr>
              <a:t>over academic</a:t>
            </a:r>
          </a:p>
        </p:txBody>
      </p:sp>
      <p:pic>
        <p:nvPicPr>
          <p:cNvPr id="7" name="Picture 6" descr="door-o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9686" y="3284601"/>
            <a:ext cx="685800" cy="685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05840" y="4244721"/>
            <a:ext cx="1893493" cy="1470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350" b="0" i="0">
                <a:solidFill>
                  <a:srgbClr val="131416"/>
                </a:solidFill>
                <a:latin typeface="DM Sans"/>
              </a:rPr>
              <a:t>No previous experience, training, or interest required.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93693" y="1364361"/>
            <a:ext cx="2442133" cy="4579239"/>
          </a:xfrm>
          <a:prstGeom prst="roundRect">
            <a:avLst>
              <a:gd name="adj" fmla="val 10000"/>
            </a:avLst>
          </a:prstGeom>
          <a:solidFill>
            <a:srgbClr val="FFEF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68013" y="1775841"/>
            <a:ext cx="189349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980" b="1" i="0">
                <a:solidFill>
                  <a:srgbClr val="131416"/>
                </a:solidFill>
                <a:latin typeface="Inter"/>
              </a:rPr>
              <a:t>Collaborative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6079" y="2278761"/>
            <a:ext cx="1737360" cy="31750"/>
          </a:xfrm>
          <a:prstGeom prst="rect">
            <a:avLst/>
          </a:prstGeom>
          <a:solidFill>
            <a:srgbClr val="FABC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68013" y="2461641"/>
            <a:ext cx="1893493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20" b="0" i="0">
                <a:solidFill>
                  <a:srgbClr val="131416"/>
                </a:solidFill>
                <a:latin typeface="Inter"/>
              </a:rPr>
              <a:t>over competitive</a:t>
            </a:r>
          </a:p>
        </p:txBody>
      </p:sp>
      <p:pic>
        <p:nvPicPr>
          <p:cNvPr id="13" name="Picture 12" descr="handshak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1859" y="3284601"/>
            <a:ext cx="685800" cy="6858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768013" y="4244721"/>
            <a:ext cx="1893493" cy="1470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350" b="0" i="0">
                <a:solidFill>
                  <a:srgbClr val="131416"/>
                </a:solidFill>
                <a:latin typeface="DM Sans"/>
              </a:rPr>
              <a:t>Building bridges and shared spaces between ministries.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55867" y="1364361"/>
            <a:ext cx="2442133" cy="4579239"/>
          </a:xfrm>
          <a:prstGeom prst="roundRect">
            <a:avLst>
              <a:gd name="adj" fmla="val 10000"/>
            </a:avLst>
          </a:prstGeom>
          <a:solidFill>
            <a:srgbClr val="FFEF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0187" y="1775841"/>
            <a:ext cx="189349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980" b="1" i="0">
                <a:solidFill>
                  <a:srgbClr val="131416"/>
                </a:solidFill>
                <a:latin typeface="Inter"/>
              </a:rPr>
              <a:t>Innovative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08253" y="2278761"/>
            <a:ext cx="1737360" cy="31750"/>
          </a:xfrm>
          <a:prstGeom prst="rect">
            <a:avLst/>
          </a:prstGeom>
          <a:solidFill>
            <a:srgbClr val="FABC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0187" y="2461641"/>
            <a:ext cx="1893493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20" b="0" i="0">
                <a:solidFill>
                  <a:srgbClr val="131416"/>
                </a:solidFill>
                <a:latin typeface="Inter"/>
              </a:rPr>
              <a:t>over traditional</a:t>
            </a:r>
          </a:p>
        </p:txBody>
      </p:sp>
      <p:pic>
        <p:nvPicPr>
          <p:cNvPr id="19" name="Picture 18" descr="lightbul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4033" y="3284601"/>
            <a:ext cx="685800" cy="6858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530187" y="4244721"/>
            <a:ext cx="1893493" cy="1470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350" b="0" i="0">
                <a:solidFill>
                  <a:srgbClr val="131416"/>
                </a:solidFill>
                <a:latin typeface="DM Sans"/>
              </a:rPr>
              <a:t>Fresh approaches through the innovation pipeline.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18041" y="1364361"/>
            <a:ext cx="2442133" cy="4579239"/>
          </a:xfrm>
          <a:prstGeom prst="roundRect">
            <a:avLst>
              <a:gd name="adj" fmla="val 10000"/>
            </a:avLst>
          </a:prstGeom>
          <a:solidFill>
            <a:srgbClr val="FFEF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92361" y="1775841"/>
            <a:ext cx="189349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980" b="1" i="0">
                <a:solidFill>
                  <a:srgbClr val="131416"/>
                </a:solidFill>
                <a:latin typeface="Inter"/>
              </a:rPr>
              <a:t>Global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370427" y="2278761"/>
            <a:ext cx="1737360" cy="31750"/>
          </a:xfrm>
          <a:prstGeom prst="rect">
            <a:avLst/>
          </a:prstGeom>
          <a:solidFill>
            <a:srgbClr val="FABC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92361" y="2461641"/>
            <a:ext cx="1893493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20" b="0" i="0">
                <a:solidFill>
                  <a:srgbClr val="131416"/>
                </a:solidFill>
                <a:latin typeface="Inter"/>
              </a:rPr>
              <a:t>over Western-centric</a:t>
            </a:r>
          </a:p>
        </p:txBody>
      </p:sp>
      <p:pic>
        <p:nvPicPr>
          <p:cNvPr id="25" name="Picture 24" descr="glob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96207" y="3284601"/>
            <a:ext cx="685800" cy="6858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292361" y="4244721"/>
            <a:ext cx="1893493" cy="1470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350" b="0" i="0">
                <a:solidFill>
                  <a:srgbClr val="131416"/>
                </a:solidFill>
                <a:latin typeface="DM Sans"/>
              </a:rPr>
              <a:t>Grounded in the realities of 7M students worldwide.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731520" y="0"/>
            <a:ext cx="5175504" cy="6858000"/>
          </a:xfrm>
          <a:prstGeom prst="roundRect">
            <a:avLst>
              <a:gd name="adj" fmla="val 10000"/>
            </a:avLst>
          </a:prstGeom>
          <a:solidFill>
            <a:srgbClr val="FFEF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4944" y="694944"/>
            <a:ext cx="3255264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20" b="1" i="0" spc="-120">
                <a:solidFill>
                  <a:srgbClr val="0D145F"/>
                </a:solidFill>
                <a:latin typeface="Inter"/>
              </a:rPr>
              <a:t>What partners can expect</a:t>
            </a:r>
          </a:p>
        </p:txBody>
      </p:sp>
      <p:sp>
        <p:nvSpPr>
          <p:cNvPr id="4" name="Oval 3"/>
          <p:cNvSpPr/>
          <p:nvPr/>
        </p:nvSpPr>
        <p:spPr>
          <a:xfrm>
            <a:off x="822960" y="3749040"/>
            <a:ext cx="2286000" cy="2286000"/>
          </a:xfrm>
          <a:prstGeom prst="ellipse">
            <a:avLst/>
          </a:prstGeom>
          <a:solidFill>
            <a:srgbClr val="FABC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handshak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1580" y="3474720"/>
            <a:ext cx="2286000" cy="2286000"/>
          </a:xfrm>
          <a:prstGeom prst="rect">
            <a:avLst/>
          </a:prstGeom>
        </p:spPr>
      </p:pic>
      <p:pic>
        <p:nvPicPr>
          <p:cNvPr id="6" name="Picture 5" descr="sp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4064" y="1041908"/>
            <a:ext cx="27432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559552" y="1000760"/>
            <a:ext cx="5964631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20" b="0" i="0">
                <a:solidFill>
                  <a:srgbClr val="131416"/>
                </a:solidFill>
                <a:latin typeface="DM Sans"/>
              </a:rPr>
              <a:t>Shared research on the needs of international students</a:t>
            </a:r>
          </a:p>
        </p:txBody>
      </p:sp>
      <p:pic>
        <p:nvPicPr>
          <p:cNvPr id="8" name="Picture 7" descr="sp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4064" y="1905508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559552" y="1864360"/>
            <a:ext cx="5964631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20" b="0" i="0">
                <a:solidFill>
                  <a:srgbClr val="131416"/>
                </a:solidFill>
                <a:latin typeface="DM Sans"/>
              </a:rPr>
              <a:t>Introductions to ministries already serving your campus</a:t>
            </a:r>
          </a:p>
        </p:txBody>
      </p:sp>
      <p:pic>
        <p:nvPicPr>
          <p:cNvPr id="10" name="Picture 9" descr="sp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4064" y="2769108"/>
            <a:ext cx="274320" cy="274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559552" y="2727960"/>
            <a:ext cx="5964631" cy="388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20" b="0" i="0">
                <a:solidFill>
                  <a:srgbClr val="131416"/>
                </a:solidFill>
                <a:latin typeface="DM Sans"/>
              </a:rPr>
              <a:t>Coordinated calendars so events don't compete</a:t>
            </a:r>
          </a:p>
        </p:txBody>
      </p:sp>
      <p:pic>
        <p:nvPicPr>
          <p:cNvPr id="12" name="Picture 11" descr="sp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4064" y="3335528"/>
            <a:ext cx="274320" cy="274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559552" y="3294380"/>
            <a:ext cx="5964631" cy="388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20" b="0" i="0">
                <a:solidFill>
                  <a:srgbClr val="131416"/>
                </a:solidFill>
                <a:latin typeface="DM Sans"/>
              </a:rPr>
              <a:t>Training that doesn't assume previous experience</a:t>
            </a:r>
          </a:p>
        </p:txBody>
      </p:sp>
      <p:pic>
        <p:nvPicPr>
          <p:cNvPr id="14" name="Picture 13" descr="sp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4064" y="3901948"/>
            <a:ext cx="274320" cy="2743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559552" y="3860800"/>
            <a:ext cx="5964631" cy="388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20" b="0" i="0">
                <a:solidFill>
                  <a:srgbClr val="131416"/>
                </a:solidFill>
                <a:latin typeface="DM Sans"/>
              </a:rPr>
              <a:t>A place to test new ideas with other ministries</a:t>
            </a:r>
          </a:p>
        </p:txBody>
      </p:sp>
      <p:pic>
        <p:nvPicPr>
          <p:cNvPr id="16" name="Picture 15" descr="sp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4064" y="4468368"/>
            <a:ext cx="274320" cy="2743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559552" y="4427220"/>
            <a:ext cx="5964631" cy="388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20" b="0" i="0">
                <a:solidFill>
                  <a:srgbClr val="131416"/>
                </a:solidFill>
                <a:latin typeface="DM Sans"/>
              </a:rPr>
              <a:t>Regular gatherings to learn from each other</a:t>
            </a:r>
          </a:p>
        </p:txBody>
      </p:sp>
      <p:pic>
        <p:nvPicPr>
          <p:cNvPr id="18" name="Picture 17" descr="sp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4064" y="5034788"/>
            <a:ext cx="274320" cy="2743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559552" y="4993640"/>
            <a:ext cx="5964631" cy="388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20" b="0" i="0">
                <a:solidFill>
                  <a:srgbClr val="131416"/>
                </a:solidFill>
                <a:latin typeface="DM Sans"/>
              </a:rPr>
              <a:t>Simple tools to follow up with students</a:t>
            </a:r>
          </a:p>
        </p:txBody>
      </p:sp>
      <p:pic>
        <p:nvPicPr>
          <p:cNvPr id="20" name="Picture 19" descr="sp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4064" y="5601208"/>
            <a:ext cx="274320" cy="2743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559552" y="5560060"/>
            <a:ext cx="5964631" cy="388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20" b="0" i="0">
                <a:solidFill>
                  <a:srgbClr val="131416"/>
                </a:solidFill>
                <a:latin typeface="DM Sans"/>
              </a:rPr>
              <a:t>Support for students returning home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dotband-gr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5720" y="0"/>
            <a:ext cx="14447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58952" y="612648"/>
            <a:ext cx="10673791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90" b="1" i="0" spc="-98">
                <a:solidFill>
                  <a:srgbClr val="0D145F"/>
                </a:solidFill>
                <a:latin typeface="Inter"/>
              </a:rPr>
              <a:t>How we work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64361"/>
            <a:ext cx="5090007" cy="45792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370167" y="1364361"/>
            <a:ext cx="5090007" cy="45792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730121"/>
            <a:ext cx="435848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80" b="1" i="0" spc="-20">
                <a:solidFill>
                  <a:srgbClr val="0D145F"/>
                </a:solidFill>
                <a:latin typeface="DM Sans"/>
              </a:rPr>
              <a:t>What we add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278761"/>
            <a:ext cx="4358487" cy="38477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490" indent="-237490">
              <a:lnSpc>
                <a:spcPct val="130000"/>
              </a:lnSpc>
              <a:spcAft>
                <a:spcPts val="1000"/>
              </a:spcAft>
              <a:buClr>
                <a:srgbClr val="0D145F"/>
              </a:buClr>
              <a:buFont typeface="Arial"/>
              <a:buChar char="•"/>
            </a:pPr>
            <a:r>
              <a:rPr sz="1530" b="0" i="0" spc="-15">
                <a:solidFill>
                  <a:srgbClr val="131416"/>
                </a:solidFill>
                <a:latin typeface="DM Sans"/>
              </a:rPr>
              <a:t>Shared data</a:t>
            </a:r>
          </a:p>
          <a:p>
            <a:pPr marL="237490" indent="-237490">
              <a:lnSpc>
                <a:spcPct val="130000"/>
              </a:lnSpc>
              <a:spcAft>
                <a:spcPts val="1000"/>
              </a:spcAft>
              <a:buClr>
                <a:srgbClr val="0D145F"/>
              </a:buClr>
              <a:buFont typeface="Arial"/>
              <a:buChar char="•"/>
            </a:pPr>
            <a:r>
              <a:rPr sz="1530" b="0" i="0" spc="-15">
                <a:solidFill>
                  <a:srgbClr val="131416"/>
                </a:solidFill>
                <a:latin typeface="DM Sans"/>
              </a:rPr>
              <a:t>Coordination</a:t>
            </a:r>
          </a:p>
          <a:p>
            <a:pPr marL="237490" indent="-237490">
              <a:lnSpc>
                <a:spcPct val="130000"/>
              </a:lnSpc>
              <a:spcAft>
                <a:spcPts val="1000"/>
              </a:spcAft>
              <a:buClr>
                <a:srgbClr val="0D145F"/>
              </a:buClr>
              <a:buFont typeface="Arial"/>
              <a:buChar char="•"/>
            </a:pPr>
            <a:r>
              <a:rPr sz="1530" b="0" i="0" spc="-15">
                <a:solidFill>
                  <a:srgbClr val="131416"/>
                </a:solidFill>
                <a:latin typeface="DM Sans"/>
              </a:rPr>
              <a:t>Innovation support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35927" y="1730121"/>
            <a:ext cx="435848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80" b="1" i="0" spc="-20">
                <a:solidFill>
                  <a:srgbClr val="0D145F"/>
                </a:solidFill>
                <a:latin typeface="DM Sans"/>
              </a:rPr>
              <a:t>What stays yours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35927" y="2278761"/>
            <a:ext cx="4358487" cy="38477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490" indent="-237490">
              <a:lnSpc>
                <a:spcPct val="130000"/>
              </a:lnSpc>
              <a:spcAft>
                <a:spcPts val="1000"/>
              </a:spcAft>
              <a:buClr>
                <a:srgbClr val="0D145F"/>
              </a:buClr>
              <a:buFont typeface="Arial"/>
              <a:buChar char="•"/>
            </a:pPr>
            <a:r>
              <a:rPr sz="1530" b="0" i="0" spc="-15">
                <a:solidFill>
                  <a:srgbClr val="131416"/>
                </a:solidFill>
                <a:latin typeface="DM Sans"/>
              </a:rPr>
              <a:t>Your ministry's identity</a:t>
            </a:r>
          </a:p>
          <a:p>
            <a:pPr marL="237490" indent="-237490">
              <a:lnSpc>
                <a:spcPct val="130000"/>
              </a:lnSpc>
              <a:spcAft>
                <a:spcPts val="1000"/>
              </a:spcAft>
              <a:buClr>
                <a:srgbClr val="0D145F"/>
              </a:buClr>
              <a:buFont typeface="Arial"/>
              <a:buChar char="•"/>
            </a:pPr>
            <a:r>
              <a:rPr sz="1530" b="0" i="0" spc="-15">
                <a:solidFill>
                  <a:srgbClr val="131416"/>
                </a:solidFill>
                <a:latin typeface="DM Sans"/>
              </a:rPr>
              <a:t>Your relationships</a:t>
            </a:r>
          </a:p>
          <a:p>
            <a:pPr marL="237490" indent="-237490">
              <a:lnSpc>
                <a:spcPct val="130000"/>
              </a:lnSpc>
              <a:spcAft>
                <a:spcPts val="1000"/>
              </a:spcAft>
              <a:buClr>
                <a:srgbClr val="0D145F"/>
              </a:buClr>
              <a:buFont typeface="Arial"/>
              <a:buChar char="•"/>
            </a:pPr>
            <a:r>
              <a:rPr sz="1530" b="0" i="0" spc="-15">
                <a:solidFill>
                  <a:srgbClr val="131416"/>
                </a:solidFill>
                <a:latin typeface="DM Sans"/>
              </a:rPr>
              <a:t>Your programs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dotband-gr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5720" y="0"/>
            <a:ext cx="14447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58952" y="612648"/>
            <a:ext cx="10673791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90" b="1" i="0" spc="-98">
                <a:solidFill>
                  <a:srgbClr val="0D145F"/>
                </a:solidFill>
                <a:latin typeface="Inter"/>
              </a:rPr>
              <a:t>Next twelve months</a:t>
            </a:r>
          </a:p>
        </p:txBody>
      </p:sp>
      <p:sp>
        <p:nvSpPr>
          <p:cNvPr id="4" name="Rectangle 3"/>
          <p:cNvSpPr/>
          <p:nvPr/>
        </p:nvSpPr>
        <p:spPr>
          <a:xfrm>
            <a:off x="2072601" y="2716911"/>
            <a:ext cx="8046491" cy="38100"/>
          </a:xfrm>
          <a:prstGeom prst="rect">
            <a:avLst/>
          </a:prstGeom>
          <a:solidFill>
            <a:srgbClr val="0D14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61121" y="2324481"/>
            <a:ext cx="822960" cy="822960"/>
          </a:xfrm>
          <a:prstGeom prst="ellipse">
            <a:avLst/>
          </a:prstGeom>
          <a:solidFill>
            <a:srgbClr val="9C9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e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8631" y="2521991"/>
            <a:ext cx="427940" cy="4279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5819" y="1867281"/>
            <a:ext cx="2453563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80" b="1" i="0" spc="65">
                <a:solidFill>
                  <a:srgbClr val="1F2FE0"/>
                </a:solidFill>
                <a:latin typeface="DM Sans"/>
              </a:rPr>
              <a:t>NOV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19" y="3421761"/>
            <a:ext cx="245356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30" b="1" i="0">
                <a:solidFill>
                  <a:srgbClr val="0D145F"/>
                </a:solidFill>
                <a:latin typeface="DM Sans"/>
              </a:rPr>
              <a:t>1. Partner survey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5819" y="4061841"/>
            <a:ext cx="2453563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60" b="0" i="0">
                <a:solidFill>
                  <a:srgbClr val="131416"/>
                </a:solidFill>
                <a:latin typeface="DM Sans"/>
              </a:rPr>
              <a:t>Listen before we build.</a:t>
            </a:r>
          </a:p>
        </p:txBody>
      </p:sp>
      <p:sp>
        <p:nvSpPr>
          <p:cNvPr id="10" name="Oval 9"/>
          <p:cNvSpPr/>
          <p:nvPr/>
        </p:nvSpPr>
        <p:spPr>
          <a:xfrm>
            <a:off x="4343285" y="2324481"/>
            <a:ext cx="822960" cy="822960"/>
          </a:xfrm>
          <a:prstGeom prst="ellipse">
            <a:avLst/>
          </a:prstGeom>
          <a:solidFill>
            <a:srgbClr val="9C9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alend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40795" y="2521991"/>
            <a:ext cx="427940" cy="4279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527983" y="1867281"/>
            <a:ext cx="2453563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80" b="1" i="0" spc="65">
                <a:solidFill>
                  <a:srgbClr val="1F2FE0"/>
                </a:solidFill>
                <a:latin typeface="DM Sans"/>
              </a:rPr>
              <a:t>JAN 2027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7983" y="3421761"/>
            <a:ext cx="245356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30" b="1" i="0">
                <a:solidFill>
                  <a:srgbClr val="0D145F"/>
                </a:solidFill>
                <a:latin typeface="DM Sans"/>
              </a:rPr>
              <a:t>2. Shared calendar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7983" y="4061841"/>
            <a:ext cx="2453563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60" b="0" i="0">
                <a:solidFill>
                  <a:srgbClr val="131416"/>
                </a:solidFill>
                <a:latin typeface="DM Sans"/>
              </a:rPr>
              <a:t>One view of campus events.</a:t>
            </a:r>
          </a:p>
        </p:txBody>
      </p:sp>
      <p:sp>
        <p:nvSpPr>
          <p:cNvPr id="15" name="Oval 14"/>
          <p:cNvSpPr/>
          <p:nvPr/>
        </p:nvSpPr>
        <p:spPr>
          <a:xfrm>
            <a:off x="7025449" y="2324481"/>
            <a:ext cx="822960" cy="822960"/>
          </a:xfrm>
          <a:prstGeom prst="ellipse">
            <a:avLst/>
          </a:prstGeom>
          <a:solidFill>
            <a:srgbClr val="9C9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users-roun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2959" y="2521991"/>
            <a:ext cx="427940" cy="4279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210147" y="1867281"/>
            <a:ext cx="2453563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80" b="1" i="0" spc="65">
                <a:solidFill>
                  <a:srgbClr val="1F2FE0"/>
                </a:solidFill>
                <a:latin typeface="DM Sans"/>
              </a:rPr>
              <a:t>MAR 2027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0147" y="3421761"/>
            <a:ext cx="245356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30" b="1" i="0">
                <a:solidFill>
                  <a:srgbClr val="0D145F"/>
                </a:solidFill>
                <a:latin typeface="DM Sans"/>
              </a:rPr>
              <a:t>3. Summit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0147" y="4061841"/>
            <a:ext cx="2453563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60" b="0" i="0">
                <a:solidFill>
                  <a:srgbClr val="131416"/>
                </a:solidFill>
                <a:latin typeface="DM Sans"/>
              </a:rPr>
              <a:t>Gather in person.</a:t>
            </a:r>
          </a:p>
        </p:txBody>
      </p:sp>
      <p:sp>
        <p:nvSpPr>
          <p:cNvPr id="20" name="Oval 19"/>
          <p:cNvSpPr/>
          <p:nvPr/>
        </p:nvSpPr>
        <p:spPr>
          <a:xfrm>
            <a:off x="9707613" y="2324481"/>
            <a:ext cx="822960" cy="822960"/>
          </a:xfrm>
          <a:prstGeom prst="ellipse">
            <a:avLst/>
          </a:prstGeom>
          <a:solidFill>
            <a:srgbClr val="9C9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plane-takeo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05123" y="2521991"/>
            <a:ext cx="427940" cy="4279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892311" y="1867281"/>
            <a:ext cx="2453563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80" b="1" i="0" spc="65">
                <a:solidFill>
                  <a:srgbClr val="1F2FE0"/>
                </a:solidFill>
                <a:latin typeface="DM Sans"/>
              </a:rPr>
              <a:t>JUN 2027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92311" y="3421761"/>
            <a:ext cx="245356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30" b="1" i="0">
                <a:solidFill>
                  <a:srgbClr val="0D145F"/>
                </a:solidFill>
                <a:latin typeface="DM Sans"/>
              </a:rPr>
              <a:t>4. Re-entry toolkit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92311" y="4061841"/>
            <a:ext cx="2453563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60" b="0" i="0">
                <a:solidFill>
                  <a:srgbClr val="131416"/>
                </a:solidFill>
                <a:latin typeface="DM Sans"/>
              </a:rPr>
              <a:t>Support students going home.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dotband-gr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5720" y="0"/>
            <a:ext cx="1444752" cy="6858000"/>
          </a:xfrm>
          <a:prstGeom prst="rect">
            <a:avLst/>
          </a:prstGeom>
        </p:spPr>
      </p:pic>
      <p:pic>
        <p:nvPicPr>
          <p:cNvPr id="3" name="Picture 2" descr="img_701830952176380388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640080"/>
            <a:ext cx="5120640" cy="539496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6492240" y="1188720"/>
            <a:ext cx="838200" cy="329184"/>
          </a:xfrm>
          <a:prstGeom prst="roundRect">
            <a:avLst>
              <a:gd name="adj" fmla="val 50000"/>
            </a:avLst>
          </a:prstGeom>
          <a:solidFill>
            <a:srgbClr val="FABC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0" bIns="0"/>
          <a:lstStyle/>
          <a:p>
            <a:pPr algn="ctr"/>
            <a:r>
              <a:rPr sz="1080" b="1" i="0">
                <a:solidFill>
                  <a:srgbClr val="131416"/>
                </a:solidFill>
                <a:latin typeface="DM Sans"/>
              </a:rPr>
              <a:t>Story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0" y="1737360"/>
            <a:ext cx="4967935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60" b="1" i="0" spc="-31">
                <a:solidFill>
                  <a:srgbClr val="0D145F"/>
                </a:solidFill>
                <a:latin typeface="Inter"/>
              </a:rPr>
              <a:t>Every friendship starts with a welcome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0" y="3007360"/>
            <a:ext cx="4967935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30" b="0" i="0" spc="-15">
                <a:solidFill>
                  <a:srgbClr val="131416"/>
                </a:solidFill>
                <a:latin typeface="DM Sans"/>
              </a:rPr>
              <a:t>Use this space for a short story. Replace the placeholder name with a real, consented testimony.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dotband-gr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5720" y="0"/>
            <a:ext cx="14447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71600" y="1097280"/>
            <a:ext cx="9448495" cy="4663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0" i="0" spc="-126">
                <a:solidFill>
                  <a:srgbClr val="0D145F"/>
                </a:solidFill>
                <a:latin typeface="Inter"/>
              </a:rPr>
              <a:t>Empowering the next generation to share the gospel </a:t>
            </a:r>
            <a:r>
              <a:rPr sz="3600" b="0" i="0" spc="-126">
                <a:solidFill>
                  <a:srgbClr val="15219D"/>
                </a:solidFill>
                <a:latin typeface="Inter"/>
              </a:rPr>
              <a:t>confidently</a:t>
            </a:r>
            <a:r>
              <a:rPr sz="3600" b="0" i="0" spc="-126">
                <a:solidFill>
                  <a:srgbClr val="0D145F"/>
                </a:solidFill>
                <a:latin typeface="Inter"/>
              </a:rPr>
              <a:t>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4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arallelogram 1"/>
          <p:cNvSpPr/>
          <p:nvPr/>
        </p:nvSpPr>
        <p:spPr>
          <a:xfrm>
            <a:off x="-1280160" y="-182880"/>
            <a:ext cx="4023360" cy="7406640"/>
          </a:xfrm>
          <a:prstGeom prst="parallelogram">
            <a:avLst>
              <a:gd name="adj" fmla="val 28000"/>
            </a:avLst>
          </a:prstGeom>
          <a:solidFill>
            <a:srgbClr val="15219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ots-periwink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56032" y="2029968"/>
            <a:ext cx="2286000" cy="48280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94944" y="1828800"/>
            <a:ext cx="105156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7920" b="1" i="0" spc="-356">
                <a:solidFill>
                  <a:srgbClr val="FFFFFF"/>
                </a:solidFill>
                <a:latin typeface="Inter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324612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1" spc="-54">
                <a:solidFill>
                  <a:srgbClr val="FABC20"/>
                </a:solidFill>
                <a:latin typeface="Inter"/>
              </a:rPr>
              <a:t>Let's build this together.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4297680"/>
            <a:ext cx="8229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40" b="0" i="0">
                <a:solidFill>
                  <a:srgbClr val="FFFFFF"/>
                </a:solidFill>
                <a:latin typeface="DM Sans"/>
              </a:rPr>
              <a:t>[your.email@example.org]</a:t>
            </a:r>
          </a:p>
        </p:txBody>
      </p:sp>
      <p:pic>
        <p:nvPicPr>
          <p:cNvPr id="7" name="Picture 6" descr="wordmark-horizontal-mi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8415" y="5961888"/>
            <a:ext cx="2254412" cy="29260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Frontier Commons — Auto Layout Demo</dc:title>
  <dc:subject/>
  <dc:creator>Frontier Commons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