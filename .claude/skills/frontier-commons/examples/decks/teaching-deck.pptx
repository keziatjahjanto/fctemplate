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people as they arrive. Invite them to sit with someone they don't know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Think back... Give people a minute of quiet first. Listen for: small, practical gestures. Transition: 'Students feel this every day for months.'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 for: language worries, food, not wanting to be a burden, cultural norms about hospitality.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of hands for each option. There isn't one right answer; ask people to explain why they chose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548640"/>
            <a:ext cx="5120640" cy="5120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0" y="3566160"/>
            <a:ext cx="2286000" cy="2286000"/>
          </a:xfrm>
          <a:prstGeom prst="roundRect">
            <a:avLst>
              <a:gd name="adj" fmla="val 18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r-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4069080"/>
            <a:ext cx="1280160" cy="12801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509760" y="5074920"/>
            <a:ext cx="822960" cy="8229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916936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Volunteer training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0350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 spc="-92">
                <a:solidFill>
                  <a:srgbClr val="0D145F"/>
                </a:solidFill>
                <a:latin typeface="Inter"/>
              </a:rPr>
              <a:t>Welcoming international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531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Simple ways to be a friend in the first few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[Presenter name]   ·   October 2026</a:t>
            </a:r>
          </a:p>
        </p:txBody>
      </p:sp>
      <p:pic>
        <p:nvPicPr>
          <p:cNvPr id="10" name="Picture 9" descr="wordmark-horizontal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080760"/>
            <a:ext cx="211351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spc="-38">
                <a:solidFill>
                  <a:srgbClr val="0D145F"/>
                </a:solidFill>
                <a:latin typeface="Inter"/>
              </a:rPr>
              <a:t>Our time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6550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1707134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160655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What it feels like to arrive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8367" y="1784858"/>
            <a:ext cx="1255776" cy="420624"/>
          </a:xfrm>
          <a:prstGeom prst="roundRect">
            <a:avLst>
              <a:gd name="adj" fmla="val 5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59" y="187629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42143" y="1784858"/>
            <a:ext cx="688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30094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630678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530094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The first few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48367" y="2708402"/>
            <a:ext cx="1255776" cy="420624"/>
          </a:xfrm>
          <a:prstGeom prst="roundRect">
            <a:avLst>
              <a:gd name="adj" fmla="val 5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59" y="2799842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42143" y="2708402"/>
            <a:ext cx="688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53638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3554222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3453638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Practice: a first conversation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8367" y="3631946"/>
            <a:ext cx="1255776" cy="420624"/>
          </a:xfrm>
          <a:prstGeom prst="roundRect">
            <a:avLst>
              <a:gd name="adj" fmla="val 5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59" y="372338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42143" y="3631946"/>
            <a:ext cx="688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20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77182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4477766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4377182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Questions and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8367" y="4555490"/>
            <a:ext cx="1255776" cy="420624"/>
          </a:xfrm>
          <a:prstGeom prst="roundRect">
            <a:avLst>
              <a:gd name="adj" fmla="val 5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59" y="4646930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442143" y="4555490"/>
            <a:ext cx="688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15 min</a:t>
            </a:r>
          </a:p>
        </p:txBody>
      </p:sp>
      <p:pic>
        <p:nvPicPr>
          <p:cNvPr id="27" name="Picture 26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594104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Let's discuss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2834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1645920" y="4050792"/>
            <a:ext cx="548640" cy="4572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ssage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120" y="1508760"/>
            <a:ext cx="889985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 spc="-72">
                <a:solidFill>
                  <a:srgbClr val="0D145F"/>
                </a:solidFill>
                <a:latin typeface="Inter"/>
              </a:rPr>
              <a:t>Think back to a time you were the newcomer. What helped you feel welcome?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1562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846320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5296" y="4754880"/>
            <a:ext cx="58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4888" y="4754880"/>
            <a:ext cx="11562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480" y="4846320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18664" y="4754880"/>
            <a:ext cx="58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709160"/>
            <a:ext cx="6522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→  Who noticed you?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→  What did they say or do?</a:t>
            </a:r>
          </a:p>
        </p:txBody>
      </p:sp>
      <p:pic>
        <p:nvPicPr>
          <p:cNvPr id="14" name="Picture 13" descr="logo-icon-deep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Arriving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Part 1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What the first weeks can feel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2601" y="2609850"/>
            <a:ext cx="8046491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121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19" y="331470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Pre-Arrival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19" y="395478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Excited, nervous, hopeful</a:t>
            </a:r>
          </a:p>
        </p:txBody>
      </p:sp>
      <p:sp>
        <p:nvSpPr>
          <p:cNvPr id="7" name="Oval 6"/>
          <p:cNvSpPr/>
          <p:nvPr/>
        </p:nvSpPr>
        <p:spPr>
          <a:xfrm>
            <a:off x="4343285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31470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Arrival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983" y="395478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Tired, overwhelmed, lonely</a:t>
            </a:r>
          </a:p>
        </p:txBody>
      </p:sp>
      <p:sp>
        <p:nvSpPr>
          <p:cNvPr id="10" name="Oval 9"/>
          <p:cNvSpPr/>
          <p:nvPr/>
        </p:nvSpPr>
        <p:spPr>
          <a:xfrm>
            <a:off x="7025449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331470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Settling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95478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Curious, homesick, adjusting</a:t>
            </a:r>
          </a:p>
        </p:txBody>
      </p:sp>
      <p:sp>
        <p:nvSpPr>
          <p:cNvPr id="13" name="Oval 12"/>
          <p:cNvSpPr/>
          <p:nvPr/>
        </p:nvSpPr>
        <p:spPr>
          <a:xfrm>
            <a:off x="9707613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311" y="331470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Belonging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2311" y="395478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Known, confident, at home</a:t>
            </a:r>
          </a:p>
        </p:txBody>
      </p:sp>
      <p:pic>
        <p:nvPicPr>
          <p:cNvPr id="16" name="Picture 15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spc="-38">
                <a:solidFill>
                  <a:srgbClr val="0D145F"/>
                </a:solidFill>
                <a:latin typeface="Inter"/>
              </a:rPr>
              <a:t>Small things that make a big difference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6550"/>
            <a:ext cx="107286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" y="1757426"/>
            <a:ext cx="566928" cy="566928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0" y="1893488"/>
            <a:ext cx="294804" cy="2948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3936" y="1606550"/>
            <a:ext cx="933876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Learn how to say their name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21534"/>
            <a:ext cx="107286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772410"/>
            <a:ext cx="566928" cy="566928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e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0" y="2908472"/>
            <a:ext cx="294804" cy="2948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3936" y="2621534"/>
            <a:ext cx="933876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Offer a ride from the airport or to the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36518"/>
            <a:ext cx="107286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3787394"/>
            <a:ext cx="566928" cy="566928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-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50" y="3923456"/>
            <a:ext cx="294804" cy="2948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3936" y="3636518"/>
            <a:ext cx="933876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Invite them for a meal at your home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51502"/>
            <a:ext cx="107286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802378"/>
            <a:ext cx="566928" cy="566928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50" y="4938440"/>
            <a:ext cx="294804" cy="2948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73936" y="4651502"/>
            <a:ext cx="933876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Ask about their family and home country</a:t>
            </a:r>
          </a:p>
        </p:txBody>
      </p:sp>
      <p:pic>
        <p:nvPicPr>
          <p:cNvPr id="19" name="Picture 18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2255520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Think · Pair ·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34">
                <a:solidFill>
                  <a:srgbClr val="0D145F"/>
                </a:solidFill>
                <a:latin typeface="Inter"/>
              </a:rPr>
              <a:t>What might make a student hesitate to accept an invitation?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47620"/>
            <a:ext cx="3362858" cy="339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86766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79" y="3021279"/>
            <a:ext cx="332842" cy="3328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90698" y="2977388"/>
            <a:ext cx="1156208" cy="420624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290" y="3068828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4474" y="2977388"/>
            <a:ext cx="58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44900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D145F"/>
                </a:solidFill>
                <a:latin typeface="Inter"/>
              </a:rPr>
              <a:t>1. 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93540"/>
            <a:ext cx="2722778" cy="156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31416"/>
                </a:solidFill>
                <a:latin typeface="DM Sans"/>
              </a:rPr>
              <a:t>On your own, jot down your first thoughts.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547620"/>
            <a:ext cx="3362858" cy="339598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4458" y="286766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077" y="3021279"/>
            <a:ext cx="332842" cy="33284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73596" y="2977388"/>
            <a:ext cx="11562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188" y="3068828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67372" y="2977388"/>
            <a:ext cx="58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4458" y="3644900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D145F"/>
                </a:solidFill>
                <a:latin typeface="Inter"/>
              </a:rPr>
              <a:t>2. 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4458" y="4193540"/>
            <a:ext cx="2722778" cy="156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31416"/>
                </a:solidFill>
                <a:latin typeface="DM Sans"/>
              </a:rPr>
              <a:t>Share with the person next to you. What's similar? Different?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2547620"/>
            <a:ext cx="3362858" cy="3395980"/>
          </a:xfrm>
          <a:prstGeom prst="roundRect">
            <a:avLst>
              <a:gd name="adj" fmla="val 10000"/>
            </a:avLst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ga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356" y="2867660"/>
            <a:ext cx="640080" cy="6400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956494" y="2977388"/>
            <a:ext cx="115620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086" y="306882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50270" y="2977388"/>
            <a:ext cx="58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31416"/>
                </a:solidFill>
                <a:latin typeface="DM Sans"/>
              </a:rPr>
              <a:t>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7356" y="3644900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D145F"/>
                </a:solidFill>
                <a:latin typeface="Inter"/>
              </a:rPr>
              <a:t>3.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7356" y="4193540"/>
            <a:ext cx="2722778" cy="156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31416"/>
                </a:solidFill>
                <a:latin typeface="DM Sans"/>
              </a:rPr>
              <a:t>A few pairs share one idea with the whole room.</a:t>
            </a:r>
          </a:p>
        </p:txBody>
      </p:sp>
      <p:pic>
        <p:nvPicPr>
          <p:cNvPr id="27" name="Picture 26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Part 2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5669280" cy="5486400"/>
          </a:xfrm>
          <a:prstGeom prst="roundRect">
            <a:avLst>
              <a:gd name="adj" fmla="val 8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1005840"/>
            <a:ext cx="1121664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Scenario</a:t>
            </a:r>
          </a:p>
        </p:txBody>
      </p:sp>
      <p:pic>
        <p:nvPicPr>
          <p:cNvPr id="4" name="Picture 3" descr="book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1" spc="-19">
                <a:solidFill>
                  <a:srgbClr val="131416"/>
                </a:solidFill>
                <a:latin typeface="DM Sans"/>
              </a:rPr>
              <a:t>Mei has been on campus for two weeks. You meet her at a welcome event. She smiles but answers your questions with one or two words, and keeps checking her phone.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822960"/>
            <a:ext cx="45107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spc="-60">
                <a:solidFill>
                  <a:srgbClr val="0D145F"/>
                </a:solidFill>
                <a:latin typeface="Inter"/>
              </a:rPr>
              <a:t>What would you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81150"/>
            <a:ext cx="4510735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59168" y="1690878"/>
            <a:ext cx="603504" cy="603504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31416"/>
                </a:solidFill>
                <a:latin typeface="Inter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1581150"/>
            <a:ext cx="345003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Ask a few more questions to keep the conversation going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550414"/>
            <a:ext cx="4510735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59168" y="2660142"/>
            <a:ext cx="603504" cy="603504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31416"/>
                </a:solidFill>
                <a:latin typeface="Inter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550414"/>
            <a:ext cx="345003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Share a little about yourself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519678"/>
            <a:ext cx="4510735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59168" y="3629406"/>
            <a:ext cx="603504" cy="603504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31416"/>
                </a:solidFill>
                <a:latin typeface="Inter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3519678"/>
            <a:ext cx="345003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Invite her to the next event and give her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488942"/>
            <a:ext cx="4510735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9168" y="4598670"/>
            <a:ext cx="603504" cy="603504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31416"/>
                </a:solidFill>
                <a:latin typeface="Inter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4488942"/>
            <a:ext cx="345003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Introduce her to another student from her country</a:t>
            </a:r>
          </a:p>
        </p:txBody>
      </p:sp>
      <p:pic>
        <p:nvPicPr>
          <p:cNvPr id="19" name="Picture 18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A first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80260"/>
            <a:ext cx="6766560" cy="86525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38565"/>
            <a:ext cx="548640" cy="54864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80260"/>
            <a:ext cx="5577840" cy="8652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One person plays a newly arrived 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10103"/>
            <a:ext cx="6766560" cy="86525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268408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110103"/>
            <a:ext cx="5577840" cy="8652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One person starts a friendly conversation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39946"/>
            <a:ext cx="6766560" cy="86525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4298251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139946"/>
            <a:ext cx="5577840" cy="8652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One person observes and takes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9789"/>
            <a:ext cx="6766560" cy="86525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5328094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69789"/>
            <a:ext cx="5577840" cy="8652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Switch roles after 3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080260"/>
            <a:ext cx="3596335" cy="395478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46430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32520" y="2446020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6">
                <a:solidFill>
                  <a:srgbClr val="1F2FE0"/>
                </a:solidFill>
                <a:latin typeface="DM Sans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2052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10 min</a:t>
            </a:r>
          </a:p>
        </p:txBody>
      </p:sp>
      <p:pic>
        <p:nvPicPr>
          <p:cNvPr id="20" name="Picture 19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358388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2520" y="3340100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6">
                <a:solidFill>
                  <a:srgbClr val="1F2FE0"/>
                </a:solidFill>
                <a:latin typeface="DM Sans"/>
              </a:rPr>
              <a:t>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596132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Groups of 3</a:t>
            </a:r>
          </a:p>
        </p:txBody>
      </p:sp>
      <p:pic>
        <p:nvPicPr>
          <p:cNvPr id="23" name="Picture 22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25246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32520" y="4234180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6">
                <a:solidFill>
                  <a:srgbClr val="1F2FE0"/>
                </a:solidFill>
                <a:latin typeface="DM Sans"/>
              </a:rPr>
              <a:t>YOU'LL 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490212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Conversation cards</a:t>
            </a:r>
          </a:p>
        </p:txBody>
      </p:sp>
      <p:pic>
        <p:nvPicPr>
          <p:cNvPr id="26" name="Picture 25" descr="share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5146548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520" y="5128260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6">
                <a:solidFill>
                  <a:srgbClr val="1F2FE0"/>
                </a:solidFill>
                <a:latin typeface="DM Sans"/>
              </a:rPr>
              <a:t>BRING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5384292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One question that worked well</a:t>
            </a:r>
          </a:p>
        </p:txBody>
      </p:sp>
      <p:pic>
        <p:nvPicPr>
          <p:cNvPr id="29" name="Picture 28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594104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Let's 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Pick one question to discuss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80260"/>
            <a:ext cx="3393338" cy="34061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354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40380"/>
            <a:ext cx="2844698" cy="2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4">
                <a:solidFill>
                  <a:srgbClr val="0D145F"/>
                </a:solidFill>
                <a:latin typeface="Inter"/>
              </a:rPr>
              <a:t>What surprised you in the practice?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2080260"/>
            <a:ext cx="3393338" cy="34061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73498" y="2354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498" y="3040380"/>
            <a:ext cx="2844698" cy="2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4">
                <a:solidFill>
                  <a:srgbClr val="0D145F"/>
                </a:solidFill>
                <a:latin typeface="Inter"/>
              </a:rPr>
              <a:t>Which question opened up the conversation most?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6836" y="2080260"/>
            <a:ext cx="3393338" cy="34061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41156" y="2354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1156" y="3040380"/>
            <a:ext cx="2844698" cy="2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4">
                <a:solidFill>
                  <a:srgbClr val="0D145F"/>
                </a:solidFill>
                <a:latin typeface="Inter"/>
              </a:rPr>
              <a:t>What would you do differently next time?</a:t>
            </a:r>
          </a:p>
        </p:txBody>
      </p:sp>
      <p:pic>
        <p:nvPicPr>
          <p:cNvPr id="13" name="Picture 12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3716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10896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 spc="-108">
                <a:solidFill>
                  <a:srgbClr val="F3F4FA"/>
                </a:solidFill>
                <a:latin typeface="Inter"/>
              </a:rPr>
              <a:t>Let's take a break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2991" y="4343400"/>
            <a:ext cx="1341120" cy="42062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583" y="4434840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36767" y="4343400"/>
            <a:ext cx="7741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31416"/>
                </a:solidFill>
                <a:latin typeface="DM Sans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BCB4EE"/>
                </a:solidFill>
                <a:latin typeface="DM Sans"/>
              </a:rPr>
              <a:t>Coffee and tea are at the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spc="-38">
                <a:solidFill>
                  <a:srgbClr val="0D145F"/>
                </a:solidFill>
                <a:latin typeface="Inter"/>
              </a:rPr>
              <a:t>What we learned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6550"/>
            <a:ext cx="66751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61998"/>
            <a:ext cx="512064" cy="512064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" y="1884893"/>
            <a:ext cx="266274" cy="266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5064" y="1606550"/>
            <a:ext cx="55229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Arriving is hard, even for confident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75814"/>
            <a:ext cx="66751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31262"/>
            <a:ext cx="512064" cy="512064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rcle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" y="2854157"/>
            <a:ext cx="266274" cy="266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55064" y="2575814"/>
            <a:ext cx="55229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Small, practical help builds 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45078"/>
            <a:ext cx="66751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700526"/>
            <a:ext cx="512064" cy="512064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ircle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" y="3823421"/>
            <a:ext cx="266274" cy="266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55064" y="3545078"/>
            <a:ext cx="55229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31416"/>
                </a:solidFill>
                <a:latin typeface="DM Sans"/>
              </a:rPr>
              <a:t>Good questions open doors; listen more than you talk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06550"/>
            <a:ext cx="3687775" cy="4428490"/>
          </a:xfrm>
          <a:prstGeom prst="roundRect">
            <a:avLst>
              <a:gd name="adj" fmla="val 10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otpr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7231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2795270"/>
            <a:ext cx="2956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56">
                <a:solidFill>
                  <a:srgbClr val="BCB4EE"/>
                </a:solidFill>
                <a:latin typeface="DM Sans"/>
              </a:rPr>
              <a:t>Your 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06750"/>
            <a:ext cx="2956255" cy="250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4">
                <a:solidFill>
                  <a:srgbClr val="F3F4FA"/>
                </a:solidFill>
                <a:latin typeface="Inter"/>
              </a:rPr>
              <a:t>Invite one international student for coffee </a:t>
            </a:r>
            <a:r>
              <a:rPr sz="2200" b="1" i="0" spc="-44">
                <a:solidFill>
                  <a:srgbClr val="FABC20"/>
                </a:solidFill>
                <a:latin typeface="Inter"/>
              </a:rPr>
              <a:t>this week</a:t>
            </a:r>
            <a:r>
              <a:rPr sz="2200" b="1" i="0" spc="-44">
                <a:solidFill>
                  <a:srgbClr val="F3F4FA"/>
                </a:solidFill>
                <a:latin typeface="Inter"/>
              </a:rPr>
              <a:t>.</a:t>
            </a:r>
          </a:p>
        </p:txBody>
      </p:sp>
      <p:pic>
        <p:nvPicPr>
          <p:cNvPr id="19" name="Picture 18" descr="logo-icon-deep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822960"/>
            <a:ext cx="2560320" cy="2560320"/>
          </a:xfrm>
          <a:prstGeom prst="ellipse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371600"/>
            <a:ext cx="640080" cy="64008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120">
                <a:solidFill>
                  <a:srgbClr val="0D145F"/>
                </a:solidFill>
                <a:latin typeface="Inter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 spc="-52">
                <a:solidFill>
                  <a:srgbClr val="131416"/>
                </a:solidFill>
                <a:latin typeface="Inter"/>
              </a:rPr>
              <a:t>What questions are still on your mind?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[your.email@example.org]</a:t>
            </a:r>
          </a:p>
        </p:txBody>
      </p:sp>
      <p:pic>
        <p:nvPicPr>
          <p:cNvPr id="8" name="Picture 7" descr="wordmark-horizontal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741" y="5897880"/>
            <a:ext cx="2536213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Welcoming International Students — Volunteer Training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